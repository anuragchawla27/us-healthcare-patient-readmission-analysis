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8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sz="1200" b="0" i="0" u="none" strike="noStrike">
                <a:solidFill>
                  <a:srgbClr val="FFFFFF"/>
                </a:solidFill>
                <a:latin typeface="Arial"/>
              </a:rPr>
              <a:t>Readmission Rate by Age Group (%)</a:t>
            </a:r>
          </a:p>
        </c:rich>
      </c:tx>
      <c:overlay val="0"/>
    </c:title>
    <c:autoTitleDeleted val="0"/>
    <c:plotArea>
      <c:layout/>
      <c:barChart>
        <c:barDir val="bar"/>
        <c:grouping val="clustered"/>
        <c:varyColors val="0"/>
        <c:ser>
          <c:idx val="0"/>
          <c:order val="0"/>
          <c:tx>
            <c:strRef>
              <c:f>Sheet1!$B$1</c:f>
              <c:strCache>
                <c:ptCount val="1"/>
                <c:pt idx="0">
                  <c:v>Readmission Rate (%)</c:v>
                </c:pt>
              </c:strCache>
            </c:strRef>
          </c:tx>
          <c:spPr>
            <a:solidFill>
              <a:srgbClr val="00B4A6"/>
            </a:solidFill>
            <a:effectLst/>
          </c:spPr>
          <c:invertIfNegative val="0"/>
          <c:dLbls>
            <c:numFmt formatCode="#,##0" sourceLinked="0"/>
            <c:spPr>
              <a:noFill/>
              <a:ln>
                <a:noFill/>
              </a:ln>
              <a:effectLst/>
            </c:spPr>
            <c:txPr>
              <a:bodyPr/>
              <a:lstStyle/>
              <a:p>
                <a:pPr>
                  <a:defRPr sz="8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[0-10)</c:v>
                </c:pt>
                <c:pt idx="1">
                  <c:v>[10-20)</c:v>
                </c:pt>
                <c:pt idx="2">
                  <c:v>[20-30)</c:v>
                </c:pt>
                <c:pt idx="3">
                  <c:v>[30-40)</c:v>
                </c:pt>
                <c:pt idx="4">
                  <c:v>[40-50)</c:v>
                </c:pt>
                <c:pt idx="5">
                  <c:v>[50-60)</c:v>
                </c:pt>
                <c:pt idx="6">
                  <c:v>[60-70)</c:v>
                </c:pt>
                <c:pt idx="7">
                  <c:v>[70-80)</c:v>
                </c:pt>
                <c:pt idx="8">
                  <c:v>[80-90)</c:v>
                </c:pt>
                <c:pt idx="9">
                  <c:v>[90-100)</c:v>
                </c:pt>
              </c:strCache>
            </c:strRef>
          </c:cat>
          <c:val>
            <c:numRef>
              <c:f>Sheet1!$B$2:$B$11</c:f>
              <c:numCache>
                <c:formatCode>General</c:formatCode>
                <c:ptCount val="10"/>
                <c:pt idx="0">
                  <c:v>21.5</c:v>
                </c:pt>
                <c:pt idx="1">
                  <c:v>41.8</c:v>
                </c:pt>
                <c:pt idx="2">
                  <c:v>45.1</c:v>
                </c:pt>
                <c:pt idx="3">
                  <c:v>43.3</c:v>
                </c:pt>
                <c:pt idx="4">
                  <c:v>44.8</c:v>
                </c:pt>
                <c:pt idx="5">
                  <c:v>44.2</c:v>
                </c:pt>
                <c:pt idx="6">
                  <c:v>46.4</c:v>
                </c:pt>
                <c:pt idx="7">
                  <c:v>48.2</c:v>
                </c:pt>
                <c:pt idx="8">
                  <c:v>48.3</c:v>
                </c:pt>
                <c:pt idx="9">
                  <c:v>40</c:v>
                </c:pt>
              </c:numCache>
            </c:numRef>
          </c:val>
          <c:extLst>
            <c:ext xmlns:c16="http://schemas.microsoft.com/office/drawing/2014/chart" uri="{C3380CC4-5D6E-409C-BE32-E72D297353CC}">
              <c16:uniqueId val="{00000000-3839-4815-9ECA-642674DDEA8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3A4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B2A3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sz="1200" b="0" i="0" u="none" strike="noStrike">
                <a:solidFill>
                  <a:srgbClr val="FFFFFF"/>
                </a:solidFill>
                <a:latin typeface="Arial"/>
              </a:rPr>
              <a:t>Readmission Breakdown</a:t>
            </a:r>
          </a:p>
        </c:rich>
      </c:tx>
      <c:overlay val="0"/>
    </c:title>
    <c:autoTitleDeleted val="0"/>
    <c:plotArea>
      <c:layout/>
      <c:doughnutChart>
        <c:varyColors val="1"/>
        <c:ser>
          <c:idx val="0"/>
          <c:order val="0"/>
          <c:tx>
            <c:strRef>
              <c:f>Sheet1!$B$1</c:f>
              <c:strCache>
                <c:ptCount val="1"/>
                <c:pt idx="0">
                  <c:v>Readmission</c:v>
                </c:pt>
              </c:strCache>
            </c:strRef>
          </c:tx>
          <c:spPr>
            <a:solidFill>
              <a:schemeClr val="accent1"/>
            </a:solidFill>
            <a:ln w="9525" cap="flat">
              <a:solidFill>
                <a:srgbClr val="F9F9F9"/>
              </a:solidFill>
              <a:prstDash val="solid"/>
              <a:round/>
            </a:ln>
            <a:effectLst/>
          </c:spPr>
          <c:dPt>
            <c:idx val="0"/>
            <c:bubble3D val="0"/>
            <c:spPr>
              <a:solidFill>
                <a:srgbClr val="4CAF8C"/>
              </a:solidFill>
              <a:effectLst/>
            </c:spPr>
            <c:extLst>
              <c:ext xmlns:c16="http://schemas.microsoft.com/office/drawing/2014/chart" uri="{C3380CC4-5D6E-409C-BE32-E72D297353CC}">
                <c16:uniqueId val="{00000001-D6DE-49A9-B3EB-809FC69F80A5}"/>
              </c:ext>
            </c:extLst>
          </c:dPt>
          <c:dPt>
            <c:idx val="1"/>
            <c:bubble3D val="0"/>
            <c:spPr>
              <a:solidFill>
                <a:srgbClr val="F5A623"/>
              </a:solidFill>
              <a:effectLst/>
            </c:spPr>
            <c:extLst>
              <c:ext xmlns:c16="http://schemas.microsoft.com/office/drawing/2014/chart" uri="{C3380CC4-5D6E-409C-BE32-E72D297353CC}">
                <c16:uniqueId val="{00000003-D6DE-49A9-B3EB-809FC69F80A5}"/>
              </c:ext>
            </c:extLst>
          </c:dPt>
          <c:dPt>
            <c:idx val="2"/>
            <c:bubble3D val="0"/>
            <c:spPr>
              <a:solidFill>
                <a:srgbClr val="E05C5C"/>
              </a:solidFill>
              <a:effectLst/>
            </c:spPr>
            <c:extLst>
              <c:ext xmlns:c16="http://schemas.microsoft.com/office/drawing/2014/chart" uri="{C3380CC4-5D6E-409C-BE32-E72D297353CC}">
                <c16:uniqueId val="{00000005-D6DE-49A9-B3EB-809FC69F80A5}"/>
              </c:ext>
            </c:extLst>
          </c:dPt>
          <c:dLbls>
            <c:dLbl>
              <c:idx val="0"/>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6DE-49A9-B3EB-809FC69F80A5}"/>
                </c:ext>
              </c:extLst>
            </c:dLbl>
            <c:dLbl>
              <c:idx val="1"/>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6DE-49A9-B3EB-809FC69F80A5}"/>
                </c:ext>
              </c:extLst>
            </c:dLbl>
            <c:dLbl>
              <c:idx val="2"/>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6DE-49A9-B3EB-809FC69F80A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Not Readmitted</c:v>
                </c:pt>
                <c:pt idx="1">
                  <c:v>Readmitted &gt;30 days</c:v>
                </c:pt>
                <c:pt idx="2">
                  <c:v>Readmitted &lt;30 days</c:v>
                </c:pt>
              </c:strCache>
            </c:strRef>
          </c:cat>
          <c:val>
            <c:numRef>
              <c:f>Sheet1!$B$2:$B$4</c:f>
              <c:numCache>
                <c:formatCode>General</c:formatCode>
                <c:ptCount val="3"/>
                <c:pt idx="0">
                  <c:v>53818</c:v>
                </c:pt>
                <c:pt idx="1">
                  <c:v>35173</c:v>
                </c:pt>
                <c:pt idx="2">
                  <c:v>11250</c:v>
                </c:pt>
              </c:numCache>
            </c:numRef>
          </c:val>
          <c:extLst>
            <c:ext xmlns:c16="http://schemas.microsoft.com/office/drawing/2014/chart" uri="{C3380CC4-5D6E-409C-BE32-E72D297353CC}">
              <c16:uniqueId val="{00000006-D6DE-49A9-B3EB-809FC69F80A5}"/>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800">
              <a:solidFill>
                <a:srgbClr val="B0BEC5"/>
              </a:solidFill>
            </a:defRPr>
          </a:pPr>
          <a:endParaRPr lang="en-US"/>
        </a:p>
      </c:txPr>
    </c:legend>
    <c:plotVisOnly val="1"/>
    <c:dispBlanksAs val="span"/>
    <c:showDLblsOverMax val="1"/>
  </c:chart>
  <c:spPr>
    <a:solidFill>
      <a:srgbClr val="1B2A3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sz="1200" b="0" i="0" u="none" strike="noStrike">
                <a:solidFill>
                  <a:srgbClr val="FFFFFF"/>
                </a:solidFill>
                <a:latin typeface="Arial"/>
              </a:rPr>
              <a:t>Readmission Rate by Race (%)</a:t>
            </a:r>
          </a:p>
        </c:rich>
      </c:tx>
      <c:overlay val="0"/>
    </c:title>
    <c:autoTitleDeleted val="0"/>
    <c:plotArea>
      <c:layout/>
      <c:barChart>
        <c:barDir val="bar"/>
        <c:grouping val="clustered"/>
        <c:varyColors val="0"/>
        <c:ser>
          <c:idx val="0"/>
          <c:order val="0"/>
          <c:tx>
            <c:strRef>
              <c:f>Sheet1!$B$1</c:f>
              <c:strCache>
                <c:ptCount val="1"/>
                <c:pt idx="0">
                  <c:v>Readmission Rate (%)</c:v>
                </c:pt>
              </c:strCache>
            </c:strRef>
          </c:tx>
          <c:spPr>
            <a:solidFill>
              <a:srgbClr val="00B4A6"/>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Caucasian</c:v>
                </c:pt>
                <c:pt idx="1">
                  <c:v>AfricanAmerican</c:v>
                </c:pt>
                <c:pt idx="2">
                  <c:v>Hispanic</c:v>
                </c:pt>
                <c:pt idx="3">
                  <c:v>Other</c:v>
                </c:pt>
                <c:pt idx="4">
                  <c:v>Asian</c:v>
                </c:pt>
                <c:pt idx="5">
                  <c:v>Unknown</c:v>
                </c:pt>
              </c:strCache>
            </c:strRef>
          </c:cat>
          <c:val>
            <c:numRef>
              <c:f>Sheet1!$B$2:$B$7</c:f>
              <c:numCache>
                <c:formatCode>General</c:formatCode>
                <c:ptCount val="6"/>
                <c:pt idx="0">
                  <c:v>47.1</c:v>
                </c:pt>
                <c:pt idx="1">
                  <c:v>46</c:v>
                </c:pt>
                <c:pt idx="2">
                  <c:v>42.3</c:v>
                </c:pt>
                <c:pt idx="3">
                  <c:v>39.200000000000003</c:v>
                </c:pt>
                <c:pt idx="4">
                  <c:v>35.799999999999997</c:v>
                </c:pt>
                <c:pt idx="5">
                  <c:v>32.299999999999997</c:v>
                </c:pt>
              </c:numCache>
            </c:numRef>
          </c:val>
          <c:extLst>
            <c:ext xmlns:c16="http://schemas.microsoft.com/office/drawing/2014/chart" uri="{C3380CC4-5D6E-409C-BE32-E72D297353CC}">
              <c16:uniqueId val="{00000000-40B1-41C6-91FA-EA56B09D3A5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3A4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B2A3B"/>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sz="1100" b="0" i="0" u="none" strike="noStrike">
                <a:solidFill>
                  <a:srgbClr val="FFFFFF"/>
                </a:solidFill>
                <a:latin typeface="Arial"/>
              </a:rPr>
              <a:t>Top 10 Primary Diagnoses (ICD-9)</a:t>
            </a:r>
          </a:p>
        </c:rich>
      </c:tx>
      <c:overlay val="0"/>
    </c:title>
    <c:autoTitleDeleted val="0"/>
    <c:plotArea>
      <c:layout/>
      <c:barChart>
        <c:barDir val="bar"/>
        <c:grouping val="clustered"/>
        <c:varyColors val="0"/>
        <c:ser>
          <c:idx val="0"/>
          <c:order val="0"/>
          <c:tx>
            <c:strRef>
              <c:f>Sheet1!$B$1</c:f>
              <c:strCache>
                <c:ptCount val="1"/>
                <c:pt idx="0">
                  <c:v>Patient Count</c:v>
                </c:pt>
              </c:strCache>
            </c:strRef>
          </c:tx>
          <c:spPr>
            <a:solidFill>
              <a:srgbClr val="4A90D9"/>
            </a:solidFill>
            <a:effectLst/>
          </c:spPr>
          <c:invertIfNegative val="0"/>
          <c:cat>
            <c:strRef>
              <c:f>Sheet1!$A$2:$A$11</c:f>
              <c:strCache>
                <c:ptCount val="10"/>
                <c:pt idx="0">
                  <c:v>428 - Heart Failure</c:v>
                </c:pt>
                <c:pt idx="1">
                  <c:v>414 - Coronary Artery</c:v>
                </c:pt>
                <c:pt idx="2">
                  <c:v>786 - Respiratory</c:v>
                </c:pt>
                <c:pt idx="3">
                  <c:v>410 - Heart Attack</c:v>
                </c:pt>
                <c:pt idx="4">
                  <c:v>486 - Pneumonia</c:v>
                </c:pt>
                <c:pt idx="5">
                  <c:v>427 - Cardiac Arrhythmia</c:v>
                </c:pt>
                <c:pt idx="6">
                  <c:v>491 - Bronchitis</c:v>
                </c:pt>
                <c:pt idx="7">
                  <c:v>715 - Osteoarthritis</c:v>
                </c:pt>
                <c:pt idx="8">
                  <c:v>434 - Stroke</c:v>
                </c:pt>
                <c:pt idx="9">
                  <c:v>682 - Skin Infection</c:v>
                </c:pt>
              </c:strCache>
            </c:strRef>
          </c:cat>
          <c:val>
            <c:numRef>
              <c:f>Sheet1!$B$2:$B$11</c:f>
              <c:numCache>
                <c:formatCode>General</c:formatCode>
                <c:ptCount val="10"/>
                <c:pt idx="0">
                  <c:v>6853</c:v>
                </c:pt>
                <c:pt idx="1">
                  <c:v>6545</c:v>
                </c:pt>
                <c:pt idx="2">
                  <c:v>3977</c:v>
                </c:pt>
                <c:pt idx="3">
                  <c:v>3610</c:v>
                </c:pt>
                <c:pt idx="4">
                  <c:v>3495</c:v>
                </c:pt>
                <c:pt idx="5">
                  <c:v>2755</c:v>
                </c:pt>
                <c:pt idx="6">
                  <c:v>2257</c:v>
                </c:pt>
                <c:pt idx="7">
                  <c:v>2123</c:v>
                </c:pt>
                <c:pt idx="8">
                  <c:v>2021</c:v>
                </c:pt>
                <c:pt idx="9">
                  <c:v>2012</c:v>
                </c:pt>
              </c:numCache>
            </c:numRef>
          </c:val>
          <c:extLst>
            <c:ext xmlns:c16="http://schemas.microsoft.com/office/drawing/2014/chart" uri="{C3380CC4-5D6E-409C-BE32-E72D297353CC}">
              <c16:uniqueId val="{00000000-29F9-4FCC-9DD0-E7A8643F31E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3A4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B2A3B"/>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sz="1200" b="0" i="0" u="none" strike="noStrike">
                <a:solidFill>
                  <a:srgbClr val="FFFFFF"/>
                </a:solidFill>
                <a:latin typeface="Arial"/>
              </a:rPr>
              <a:t>Readmission Rate by Risk Category</a:t>
            </a:r>
          </a:p>
        </c:rich>
      </c:tx>
      <c:overlay val="0"/>
    </c:title>
    <c:autoTitleDeleted val="0"/>
    <c:plotArea>
      <c:layout/>
      <c:barChart>
        <c:barDir val="col"/>
        <c:grouping val="clustered"/>
        <c:varyColors val="0"/>
        <c:ser>
          <c:idx val="0"/>
          <c:order val="0"/>
          <c:tx>
            <c:strRef>
              <c:f>Sheet1!$B$1</c:f>
              <c:strCache>
                <c:ptCount val="1"/>
                <c:pt idx="0">
                  <c:v>Readmission Rate (%)</c:v>
                </c:pt>
              </c:strCache>
            </c:strRef>
          </c:tx>
          <c:spPr>
            <a:solidFill>
              <a:srgbClr val="E05C5C"/>
            </a:solidFill>
            <a:effectLst/>
          </c:spPr>
          <c:invertIfNegative val="0"/>
          <c:dPt>
            <c:idx val="0"/>
            <c:invertIfNegative val="0"/>
            <c:bubble3D val="0"/>
            <c:extLst>
              <c:ext xmlns:c16="http://schemas.microsoft.com/office/drawing/2014/chart" uri="{C3380CC4-5D6E-409C-BE32-E72D297353CC}">
                <c16:uniqueId val="{00000001-4B29-4801-A279-5B3063113C07}"/>
              </c:ext>
            </c:extLst>
          </c:dPt>
          <c:dPt>
            <c:idx val="1"/>
            <c:invertIfNegative val="0"/>
            <c:bubble3D val="0"/>
            <c:spPr>
              <a:solidFill>
                <a:srgbClr val="F5A623"/>
              </a:solidFill>
              <a:effectLst/>
            </c:spPr>
            <c:extLst>
              <c:ext xmlns:c16="http://schemas.microsoft.com/office/drawing/2014/chart" uri="{C3380CC4-5D6E-409C-BE32-E72D297353CC}">
                <c16:uniqueId val="{00000003-4B29-4801-A279-5B3063113C07}"/>
              </c:ext>
            </c:extLst>
          </c:dPt>
          <c:dPt>
            <c:idx val="2"/>
            <c:invertIfNegative val="0"/>
            <c:bubble3D val="0"/>
            <c:spPr>
              <a:solidFill>
                <a:srgbClr val="4CAF8C"/>
              </a:solidFill>
              <a:effectLst/>
            </c:spPr>
            <c:extLst>
              <c:ext xmlns:c16="http://schemas.microsoft.com/office/drawing/2014/chart" uri="{C3380CC4-5D6E-409C-BE32-E72D297353CC}">
                <c16:uniqueId val="{00000005-4B29-4801-A279-5B3063113C07}"/>
              </c:ext>
            </c:extLst>
          </c:dPt>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Very High Risk</c:v>
                </c:pt>
                <c:pt idx="1">
                  <c:v>High Risk</c:v>
                </c:pt>
                <c:pt idx="2">
                  <c:v>Normal</c:v>
                </c:pt>
              </c:strCache>
            </c:strRef>
          </c:cat>
          <c:val>
            <c:numRef>
              <c:f>Sheet1!$B$2:$B$4</c:f>
              <c:numCache>
                <c:formatCode>General</c:formatCode>
                <c:ptCount val="3"/>
                <c:pt idx="0">
                  <c:v>68.58</c:v>
                </c:pt>
                <c:pt idx="1">
                  <c:v>61.33</c:v>
                </c:pt>
                <c:pt idx="2">
                  <c:v>39.93</c:v>
                </c:pt>
              </c:numCache>
            </c:numRef>
          </c:val>
          <c:extLst>
            <c:ext xmlns:c16="http://schemas.microsoft.com/office/drawing/2014/chart" uri="{C3380CC4-5D6E-409C-BE32-E72D297353CC}">
              <c16:uniqueId val="{00000006-4B29-4801-A279-5B3063113C0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4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B2A3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126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1188720"/>
            <a:ext cx="8229600" cy="2377440"/>
          </a:xfrm>
          <a:prstGeom prst="roundRect">
            <a:avLst>
              <a:gd name="adj" fmla="val 4615"/>
            </a:avLst>
          </a:prstGeom>
          <a:solidFill>
            <a:srgbClr val="1B2A3B"/>
          </a:solidFill>
          <a:ln w="25400">
            <a:solidFill>
              <a:srgbClr val="00B4A6"/>
            </a:solidFill>
            <a:prstDash val="solid"/>
          </a:ln>
          <a:effectLst>
            <a:outerShdw blurRad="101600" dist="38100" dir="2700000" algn="bl" rotWithShape="0">
              <a:srgbClr val="000000">
                <a:alpha val="18000"/>
              </a:srgbClr>
            </a:outerShdw>
          </a:effectLst>
        </p:spPr>
      </p:sp>
      <p:sp>
        <p:nvSpPr>
          <p:cNvPr id="3" name="Text 1"/>
          <p:cNvSpPr/>
          <p:nvPr/>
        </p:nvSpPr>
        <p:spPr>
          <a:xfrm>
            <a:off x="640080" y="1371600"/>
            <a:ext cx="7863840" cy="64008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 US Healthcare Patient</a:t>
            </a:r>
            <a:endParaRPr lang="en-US" sz="3200" dirty="0"/>
          </a:p>
        </p:txBody>
      </p:sp>
      <p:sp>
        <p:nvSpPr>
          <p:cNvPr id="4" name="Text 2"/>
          <p:cNvSpPr/>
          <p:nvPr/>
        </p:nvSpPr>
        <p:spPr>
          <a:xfrm>
            <a:off x="640080" y="1920240"/>
            <a:ext cx="7863840" cy="640080"/>
          </a:xfrm>
          <a:prstGeom prst="rect">
            <a:avLst/>
          </a:prstGeom>
          <a:noFill/>
          <a:ln/>
        </p:spPr>
        <p:txBody>
          <a:bodyPr wrap="square" rtlCol="0" anchor="ctr"/>
          <a:lstStyle/>
          <a:p>
            <a:pPr marL="0" indent="0" algn="ctr">
              <a:buNone/>
            </a:pPr>
            <a:r>
              <a:rPr lang="en-US" sz="3200" b="1" dirty="0">
                <a:solidFill>
                  <a:srgbClr val="00B4A6"/>
                </a:solidFill>
                <a:latin typeface="Calibri" pitchFamily="34" charset="0"/>
                <a:ea typeface="Calibri" pitchFamily="34" charset="-122"/>
                <a:cs typeface="Calibri" pitchFamily="34" charset="-120"/>
              </a:rPr>
              <a:t>Readmission Analysis</a:t>
            </a:r>
            <a:endParaRPr lang="en-US" sz="3200" dirty="0"/>
          </a:p>
        </p:txBody>
      </p:sp>
      <p:sp>
        <p:nvSpPr>
          <p:cNvPr id="5" name="Text 3"/>
          <p:cNvSpPr/>
          <p:nvPr/>
        </p:nvSpPr>
        <p:spPr>
          <a:xfrm>
            <a:off x="640080" y="2514600"/>
            <a:ext cx="7863840" cy="365760"/>
          </a:xfrm>
          <a:prstGeom prst="rect">
            <a:avLst/>
          </a:prstGeom>
          <a:noFill/>
          <a:ln/>
        </p:spPr>
        <p:txBody>
          <a:bodyPr wrap="square" rtlCol="0" anchor="ctr"/>
          <a:lstStyle/>
          <a:p>
            <a:pPr marL="0" indent="0" algn="ctr">
              <a:buNone/>
            </a:pPr>
            <a:r>
              <a:rPr lang="en-US" sz="1600" dirty="0">
                <a:solidFill>
                  <a:srgbClr val="B0BEC5"/>
                </a:solidFill>
                <a:latin typeface="Calibri" pitchFamily="34" charset="0"/>
                <a:ea typeface="Calibri" pitchFamily="34" charset="-122"/>
                <a:cs typeface="Calibri" pitchFamily="34" charset="-120"/>
              </a:rPr>
              <a:t>An End-to-End Data Analytics Project</a:t>
            </a:r>
            <a:endParaRPr lang="en-US" sz="1600" dirty="0"/>
          </a:p>
        </p:txBody>
      </p:sp>
      <p:sp>
        <p:nvSpPr>
          <p:cNvPr id="6" name="Shape 4"/>
          <p:cNvSpPr/>
          <p:nvPr/>
        </p:nvSpPr>
        <p:spPr>
          <a:xfrm>
            <a:off x="822960" y="3703320"/>
            <a:ext cx="1737360" cy="347472"/>
          </a:xfrm>
          <a:prstGeom prst="roundRect">
            <a:avLst>
              <a:gd name="adj" fmla="val 21053"/>
            </a:avLst>
          </a:prstGeom>
          <a:solidFill>
            <a:srgbClr val="00B4A6"/>
          </a:solidFill>
          <a:ln/>
        </p:spPr>
      </p:sp>
      <p:sp>
        <p:nvSpPr>
          <p:cNvPr id="7" name="Text 5"/>
          <p:cNvSpPr/>
          <p:nvPr/>
        </p:nvSpPr>
        <p:spPr>
          <a:xfrm>
            <a:off x="822960" y="3703320"/>
            <a:ext cx="17373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p>
        </p:txBody>
      </p:sp>
      <p:sp>
        <p:nvSpPr>
          <p:cNvPr id="8" name="Shape 6"/>
          <p:cNvSpPr/>
          <p:nvPr/>
        </p:nvSpPr>
        <p:spPr>
          <a:xfrm>
            <a:off x="2788920" y="3703320"/>
            <a:ext cx="1737360" cy="347472"/>
          </a:xfrm>
          <a:prstGeom prst="roundRect">
            <a:avLst>
              <a:gd name="adj" fmla="val 21053"/>
            </a:avLst>
          </a:prstGeom>
          <a:solidFill>
            <a:srgbClr val="00B4A6"/>
          </a:solidFill>
          <a:ln/>
        </p:spPr>
      </p:sp>
      <p:sp>
        <p:nvSpPr>
          <p:cNvPr id="9" name="Text 7"/>
          <p:cNvSpPr/>
          <p:nvPr/>
        </p:nvSpPr>
        <p:spPr>
          <a:xfrm>
            <a:off x="2788920" y="3703320"/>
            <a:ext cx="17373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MySQL</a:t>
            </a:r>
            <a:endParaRPr lang="en-US" sz="1100" dirty="0"/>
          </a:p>
        </p:txBody>
      </p:sp>
      <p:sp>
        <p:nvSpPr>
          <p:cNvPr id="10" name="Shape 8"/>
          <p:cNvSpPr/>
          <p:nvPr/>
        </p:nvSpPr>
        <p:spPr>
          <a:xfrm>
            <a:off x="4754880" y="3703320"/>
            <a:ext cx="1737360" cy="347472"/>
          </a:xfrm>
          <a:prstGeom prst="roundRect">
            <a:avLst>
              <a:gd name="adj" fmla="val 21053"/>
            </a:avLst>
          </a:prstGeom>
          <a:solidFill>
            <a:srgbClr val="00B4A6"/>
          </a:solidFill>
          <a:ln/>
        </p:spPr>
      </p:sp>
      <p:sp>
        <p:nvSpPr>
          <p:cNvPr id="11" name="Text 9"/>
          <p:cNvSpPr/>
          <p:nvPr/>
        </p:nvSpPr>
        <p:spPr>
          <a:xfrm>
            <a:off x="4754880" y="3703320"/>
            <a:ext cx="17373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p:txBody>
      </p:sp>
      <p:sp>
        <p:nvSpPr>
          <p:cNvPr id="12" name="Shape 10"/>
          <p:cNvSpPr/>
          <p:nvPr/>
        </p:nvSpPr>
        <p:spPr>
          <a:xfrm>
            <a:off x="6720840" y="3703320"/>
            <a:ext cx="1737360" cy="347472"/>
          </a:xfrm>
          <a:prstGeom prst="roundRect">
            <a:avLst>
              <a:gd name="adj" fmla="val 21053"/>
            </a:avLst>
          </a:prstGeom>
          <a:solidFill>
            <a:srgbClr val="00B4A6"/>
          </a:solidFill>
          <a:ln/>
        </p:spPr>
      </p:sp>
      <p:sp>
        <p:nvSpPr>
          <p:cNvPr id="13" name="Text 11"/>
          <p:cNvSpPr/>
          <p:nvPr/>
        </p:nvSpPr>
        <p:spPr>
          <a:xfrm>
            <a:off x="6720840" y="3703320"/>
            <a:ext cx="17373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100K+ Records</a:t>
            </a:r>
            <a:endParaRPr lang="en-US" sz="1100" dirty="0"/>
          </a:p>
        </p:txBody>
      </p:sp>
      <p:sp>
        <p:nvSpPr>
          <p:cNvPr id="14" name="Text 12"/>
          <p:cNvSpPr/>
          <p:nvPr/>
        </p:nvSpPr>
        <p:spPr>
          <a:xfrm>
            <a:off x="457200" y="4297680"/>
            <a:ext cx="8229600" cy="320040"/>
          </a:xfrm>
          <a:prstGeom prst="rect">
            <a:avLst/>
          </a:prstGeom>
          <a:noFill/>
          <a:ln/>
        </p:spPr>
        <p:txBody>
          <a:bodyPr wrap="square" rtlCol="0" anchor="ctr"/>
          <a:lstStyle/>
          <a:p>
            <a:pPr marL="0" indent="0" algn="ctr">
              <a:buNone/>
            </a:pPr>
            <a:r>
              <a:rPr lang="en-US" sz="1100" dirty="0">
                <a:solidFill>
                  <a:srgbClr val="B0BEC5"/>
                </a:solidFill>
                <a:latin typeface="Calibri" pitchFamily="34" charset="0"/>
                <a:ea typeface="Calibri" pitchFamily="34" charset="-122"/>
                <a:cs typeface="Calibri" pitchFamily="34" charset="-120"/>
              </a:rPr>
              <a:t>Prepared by: Anurag Chawla  |  Dataset: 130 US Hospitals (1999–2008)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3" name="Shape 1"/>
          <p:cNvSpPr/>
          <p:nvPr/>
        </p:nvSpPr>
        <p:spPr>
          <a:xfrm>
            <a:off x="365760" y="868680"/>
            <a:ext cx="8412480" cy="1005840"/>
          </a:xfrm>
          <a:prstGeom prst="roundRect">
            <a:avLst>
              <a:gd name="adj" fmla="val 9091"/>
            </a:avLst>
          </a:prstGeom>
          <a:solidFill>
            <a:srgbClr val="1B2A3B"/>
          </a:solidFill>
          <a:ln/>
          <a:effectLst>
            <a:outerShdw blurRad="101600" dist="38100" dir="2700000" algn="bl" rotWithShape="0">
              <a:srgbClr val="000000">
                <a:alpha val="18000"/>
              </a:srgbClr>
            </a:outerShdw>
          </a:effectLst>
        </p:spPr>
      </p:sp>
      <p:sp>
        <p:nvSpPr>
          <p:cNvPr id="4" name="Text 2"/>
          <p:cNvSpPr/>
          <p:nvPr/>
        </p:nvSpPr>
        <p:spPr>
          <a:xfrm>
            <a:off x="548640" y="914400"/>
            <a:ext cx="3657600" cy="274320"/>
          </a:xfrm>
          <a:prstGeom prst="rect">
            <a:avLst/>
          </a:prstGeom>
          <a:noFill/>
          <a:ln/>
        </p:spPr>
        <p:txBody>
          <a:bodyPr wrap="square" rtlCol="0" anchor="ctr"/>
          <a:lstStyle/>
          <a:p>
            <a:pPr marL="0" indent="0">
              <a:buNone/>
            </a:pPr>
            <a:r>
              <a:rPr lang="en-US" sz="1200" b="1" dirty="0">
                <a:solidFill>
                  <a:srgbClr val="00B4A6"/>
                </a:solidFill>
                <a:latin typeface="Calibri" pitchFamily="34" charset="0"/>
                <a:ea typeface="Calibri" pitchFamily="34" charset="-122"/>
                <a:cs typeface="Calibri" pitchFamily="34" charset="-120"/>
              </a:rPr>
              <a:t>Problem Statement</a:t>
            </a:r>
            <a:endParaRPr lang="en-US" sz="1200" dirty="0"/>
          </a:p>
        </p:txBody>
      </p:sp>
      <p:sp>
        <p:nvSpPr>
          <p:cNvPr id="5" name="Text 3"/>
          <p:cNvSpPr/>
          <p:nvPr/>
        </p:nvSpPr>
        <p:spPr>
          <a:xfrm>
            <a:off x="548640" y="1170432"/>
            <a:ext cx="8046720" cy="59436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Hospital readmissions cost the US healthcare system billions annually. This project analyzes 100,241 diabetic patient records from 130 US hospitals to identify which demographic groups, clinical factors, and treatment patterns drive readmission risk — enabling hospitals to intervene early and allocate resources effectively.</a:t>
            </a:r>
            <a:endParaRPr lang="en-US" sz="1100" dirty="0"/>
          </a:p>
        </p:txBody>
      </p:sp>
      <p:sp>
        <p:nvSpPr>
          <p:cNvPr id="6" name="Shape 4"/>
          <p:cNvSpPr/>
          <p:nvPr/>
        </p:nvSpPr>
        <p:spPr>
          <a:xfrm>
            <a:off x="365760" y="2011680"/>
            <a:ext cx="1965960" cy="2606040"/>
          </a:xfrm>
          <a:prstGeom prst="roundRect">
            <a:avLst>
              <a:gd name="adj" fmla="val 4651"/>
            </a:avLst>
          </a:prstGeom>
          <a:solidFill>
            <a:srgbClr val="1B2A3B"/>
          </a:solidFill>
          <a:ln/>
          <a:effectLst>
            <a:outerShdw blurRad="101600" dist="38100" dir="2700000" algn="bl" rotWithShape="0">
              <a:srgbClr val="000000">
                <a:alpha val="18000"/>
              </a:srgbClr>
            </a:outerShdw>
          </a:effectLst>
        </p:spPr>
      </p:sp>
      <p:sp>
        <p:nvSpPr>
          <p:cNvPr id="7" name="Text 5"/>
          <p:cNvSpPr/>
          <p:nvPr/>
        </p:nvSpPr>
        <p:spPr>
          <a:xfrm>
            <a:off x="365760" y="2103120"/>
            <a:ext cx="196596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365760" y="2514600"/>
            <a:ext cx="1965960" cy="274320"/>
          </a:xfrm>
          <a:prstGeom prst="rect">
            <a:avLst/>
          </a:prstGeom>
          <a:noFill/>
          <a:ln/>
        </p:spPr>
        <p:txBody>
          <a:bodyPr wrap="square" lIns="0" tIns="0" rIns="0" bIns="0" rtlCol="0" anchor="ctr"/>
          <a:lstStyle/>
          <a:p>
            <a:pPr marL="0" indent="0" algn="ctr">
              <a:buNone/>
            </a:pPr>
            <a:r>
              <a:rPr lang="en-US" sz="1300" b="1" dirty="0">
                <a:solidFill>
                  <a:srgbClr val="00B4A6"/>
                </a:solidFill>
                <a:latin typeface="Calibri" pitchFamily="34" charset="0"/>
                <a:ea typeface="Calibri" pitchFamily="34" charset="-122"/>
                <a:cs typeface="Calibri" pitchFamily="34" charset="-120"/>
              </a:rPr>
              <a:t>Phase 1</a:t>
            </a:r>
            <a:endParaRPr lang="en-US" sz="1300" dirty="0"/>
          </a:p>
        </p:txBody>
      </p:sp>
      <p:sp>
        <p:nvSpPr>
          <p:cNvPr id="9" name="Text 7"/>
          <p:cNvSpPr/>
          <p:nvPr/>
        </p:nvSpPr>
        <p:spPr>
          <a:xfrm>
            <a:off x="365760" y="2788920"/>
            <a:ext cx="19659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 Cleaning</a:t>
            </a:r>
            <a:endParaRPr lang="en-US" sz="1100" dirty="0"/>
          </a:p>
        </p:txBody>
      </p:sp>
      <p:sp>
        <p:nvSpPr>
          <p:cNvPr id="10" name="Text 8"/>
          <p:cNvSpPr/>
          <p:nvPr/>
        </p:nvSpPr>
        <p:spPr>
          <a:xfrm>
            <a:off x="457200" y="3090672"/>
            <a:ext cx="1783080" cy="64008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Python · Pandas</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101K → 100K rows</a:t>
            </a:r>
            <a:endParaRPr lang="en-US" sz="1000" dirty="0"/>
          </a:p>
        </p:txBody>
      </p:sp>
      <p:sp>
        <p:nvSpPr>
          <p:cNvPr id="11" name="Shape 9"/>
          <p:cNvSpPr/>
          <p:nvPr/>
        </p:nvSpPr>
        <p:spPr>
          <a:xfrm>
            <a:off x="2514600" y="2011680"/>
            <a:ext cx="1965960" cy="2606040"/>
          </a:xfrm>
          <a:prstGeom prst="roundRect">
            <a:avLst>
              <a:gd name="adj" fmla="val 4651"/>
            </a:avLst>
          </a:prstGeom>
          <a:solidFill>
            <a:srgbClr val="1B2A3B"/>
          </a:solidFill>
          <a:ln/>
          <a:effectLst>
            <a:outerShdw blurRad="101600" dist="38100" dir="2700000" algn="bl" rotWithShape="0">
              <a:srgbClr val="000000">
                <a:alpha val="18000"/>
              </a:srgbClr>
            </a:outerShdw>
          </a:effectLst>
        </p:spPr>
      </p:sp>
      <p:sp>
        <p:nvSpPr>
          <p:cNvPr id="12" name="Text 10"/>
          <p:cNvSpPr/>
          <p:nvPr/>
        </p:nvSpPr>
        <p:spPr>
          <a:xfrm>
            <a:off x="2514600" y="2103120"/>
            <a:ext cx="196596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2514600" y="2514600"/>
            <a:ext cx="1965960" cy="274320"/>
          </a:xfrm>
          <a:prstGeom prst="rect">
            <a:avLst/>
          </a:prstGeom>
          <a:noFill/>
          <a:ln/>
        </p:spPr>
        <p:txBody>
          <a:bodyPr wrap="square" lIns="0" tIns="0" rIns="0" bIns="0" rtlCol="0" anchor="ctr"/>
          <a:lstStyle/>
          <a:p>
            <a:pPr marL="0" indent="0" algn="ctr">
              <a:buNone/>
            </a:pPr>
            <a:r>
              <a:rPr lang="en-US" sz="1300" b="1" dirty="0">
                <a:solidFill>
                  <a:srgbClr val="00B4A6"/>
                </a:solidFill>
                <a:latin typeface="Calibri" pitchFamily="34" charset="0"/>
                <a:ea typeface="Calibri" pitchFamily="34" charset="-122"/>
                <a:cs typeface="Calibri" pitchFamily="34" charset="-120"/>
              </a:rPr>
              <a:t>Phase 2</a:t>
            </a:r>
            <a:endParaRPr lang="en-US" sz="1300" dirty="0"/>
          </a:p>
        </p:txBody>
      </p:sp>
      <p:sp>
        <p:nvSpPr>
          <p:cNvPr id="14" name="Text 12"/>
          <p:cNvSpPr/>
          <p:nvPr/>
        </p:nvSpPr>
        <p:spPr>
          <a:xfrm>
            <a:off x="2514600" y="2788920"/>
            <a:ext cx="19659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EDA</a:t>
            </a:r>
            <a:endParaRPr lang="en-US" sz="1100" dirty="0"/>
          </a:p>
        </p:txBody>
      </p:sp>
      <p:sp>
        <p:nvSpPr>
          <p:cNvPr id="15" name="Text 13"/>
          <p:cNvSpPr/>
          <p:nvPr/>
        </p:nvSpPr>
        <p:spPr>
          <a:xfrm>
            <a:off x="2606040" y="3090672"/>
            <a:ext cx="1783080" cy="64008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6 charts</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Key patterns</a:t>
            </a:r>
            <a:endParaRPr lang="en-US" sz="1000" dirty="0"/>
          </a:p>
        </p:txBody>
      </p:sp>
      <p:sp>
        <p:nvSpPr>
          <p:cNvPr id="16" name="Shape 14"/>
          <p:cNvSpPr/>
          <p:nvPr/>
        </p:nvSpPr>
        <p:spPr>
          <a:xfrm>
            <a:off x="4663440" y="2011680"/>
            <a:ext cx="1965960" cy="2606040"/>
          </a:xfrm>
          <a:prstGeom prst="roundRect">
            <a:avLst>
              <a:gd name="adj" fmla="val 4651"/>
            </a:avLst>
          </a:prstGeom>
          <a:solidFill>
            <a:srgbClr val="1B2A3B"/>
          </a:solidFill>
          <a:ln/>
          <a:effectLst>
            <a:outerShdw blurRad="101600" dist="38100" dir="2700000" algn="bl" rotWithShape="0">
              <a:srgbClr val="000000">
                <a:alpha val="18000"/>
              </a:srgbClr>
            </a:outerShdw>
          </a:effectLst>
        </p:spPr>
      </p:sp>
      <p:sp>
        <p:nvSpPr>
          <p:cNvPr id="17" name="Text 15"/>
          <p:cNvSpPr/>
          <p:nvPr/>
        </p:nvSpPr>
        <p:spPr>
          <a:xfrm>
            <a:off x="4663440" y="2103120"/>
            <a:ext cx="196596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4663440" y="2514600"/>
            <a:ext cx="1965960" cy="274320"/>
          </a:xfrm>
          <a:prstGeom prst="rect">
            <a:avLst/>
          </a:prstGeom>
          <a:noFill/>
          <a:ln/>
        </p:spPr>
        <p:txBody>
          <a:bodyPr wrap="square" lIns="0" tIns="0" rIns="0" bIns="0" rtlCol="0" anchor="ctr"/>
          <a:lstStyle/>
          <a:p>
            <a:pPr marL="0" indent="0" algn="ctr">
              <a:buNone/>
            </a:pPr>
            <a:r>
              <a:rPr lang="en-US" sz="1300" b="1" dirty="0">
                <a:solidFill>
                  <a:srgbClr val="00B4A6"/>
                </a:solidFill>
                <a:latin typeface="Calibri" pitchFamily="34" charset="0"/>
                <a:ea typeface="Calibri" pitchFamily="34" charset="-122"/>
                <a:cs typeface="Calibri" pitchFamily="34" charset="-120"/>
              </a:rPr>
              <a:t>Phase 3</a:t>
            </a:r>
            <a:endParaRPr lang="en-US" sz="1300" dirty="0"/>
          </a:p>
        </p:txBody>
      </p:sp>
      <p:sp>
        <p:nvSpPr>
          <p:cNvPr id="19" name="Text 17"/>
          <p:cNvSpPr/>
          <p:nvPr/>
        </p:nvSpPr>
        <p:spPr>
          <a:xfrm>
            <a:off x="4663440" y="2788920"/>
            <a:ext cx="19659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SQL Analysis</a:t>
            </a:r>
            <a:endParaRPr lang="en-US" sz="1100" dirty="0"/>
          </a:p>
        </p:txBody>
      </p:sp>
      <p:sp>
        <p:nvSpPr>
          <p:cNvPr id="20" name="Text 18"/>
          <p:cNvSpPr/>
          <p:nvPr/>
        </p:nvSpPr>
        <p:spPr>
          <a:xfrm>
            <a:off x="4754880" y="3090672"/>
            <a:ext cx="1783080" cy="64008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5 advanced queries</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CTE · Window Fn</a:t>
            </a:r>
            <a:endParaRPr lang="en-US" sz="1000" dirty="0"/>
          </a:p>
        </p:txBody>
      </p:sp>
      <p:sp>
        <p:nvSpPr>
          <p:cNvPr id="21" name="Shape 19"/>
          <p:cNvSpPr/>
          <p:nvPr/>
        </p:nvSpPr>
        <p:spPr>
          <a:xfrm>
            <a:off x="6812280" y="2011680"/>
            <a:ext cx="1965960" cy="2606040"/>
          </a:xfrm>
          <a:prstGeom prst="roundRect">
            <a:avLst>
              <a:gd name="adj" fmla="val 4651"/>
            </a:avLst>
          </a:prstGeom>
          <a:solidFill>
            <a:srgbClr val="1B2A3B"/>
          </a:solidFill>
          <a:ln/>
          <a:effectLst>
            <a:outerShdw blurRad="101600" dist="38100" dir="2700000" algn="bl" rotWithShape="0">
              <a:srgbClr val="000000">
                <a:alpha val="18000"/>
              </a:srgbClr>
            </a:outerShdw>
          </a:effectLst>
        </p:spPr>
      </p:sp>
      <p:sp>
        <p:nvSpPr>
          <p:cNvPr id="22" name="Text 20"/>
          <p:cNvSpPr/>
          <p:nvPr/>
        </p:nvSpPr>
        <p:spPr>
          <a:xfrm>
            <a:off x="6812280" y="2103120"/>
            <a:ext cx="196596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6812280" y="2514600"/>
            <a:ext cx="1965960" cy="274320"/>
          </a:xfrm>
          <a:prstGeom prst="rect">
            <a:avLst/>
          </a:prstGeom>
          <a:noFill/>
          <a:ln/>
        </p:spPr>
        <p:txBody>
          <a:bodyPr wrap="square" lIns="0" tIns="0" rIns="0" bIns="0" rtlCol="0" anchor="ctr"/>
          <a:lstStyle/>
          <a:p>
            <a:pPr marL="0" indent="0" algn="ctr">
              <a:buNone/>
            </a:pPr>
            <a:r>
              <a:rPr lang="en-US" sz="1300" b="1" dirty="0">
                <a:solidFill>
                  <a:srgbClr val="00B4A6"/>
                </a:solidFill>
                <a:latin typeface="Calibri" pitchFamily="34" charset="0"/>
                <a:ea typeface="Calibri" pitchFamily="34" charset="-122"/>
                <a:cs typeface="Calibri" pitchFamily="34" charset="-120"/>
              </a:rPr>
              <a:t>Phase 4</a:t>
            </a:r>
            <a:endParaRPr lang="en-US" sz="1300" dirty="0"/>
          </a:p>
        </p:txBody>
      </p:sp>
      <p:sp>
        <p:nvSpPr>
          <p:cNvPr id="24" name="Text 22"/>
          <p:cNvSpPr/>
          <p:nvPr/>
        </p:nvSpPr>
        <p:spPr>
          <a:xfrm>
            <a:off x="6812280" y="2788920"/>
            <a:ext cx="19659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p:txBody>
      </p:sp>
      <p:sp>
        <p:nvSpPr>
          <p:cNvPr id="25" name="Text 23"/>
          <p:cNvSpPr/>
          <p:nvPr/>
        </p:nvSpPr>
        <p:spPr>
          <a:xfrm>
            <a:off x="6903720" y="3090672"/>
            <a:ext cx="1783080" cy="64008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3-page dashboard</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Interactive slicers</a:t>
            </a:r>
            <a:endParaRPr lang="en-US" sz="1000" dirty="0"/>
          </a:p>
        </p:txBody>
      </p:sp>
      <p:sp>
        <p:nvSpPr>
          <p:cNvPr id="26" name="Text 24"/>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Dataset: Diabetes 130-US Hospitals | Kaggle / UCI ML Repository | 50 original features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Phase 1 — Data Cleaning</a:t>
            </a:r>
            <a:endParaRPr lang="en-US" sz="2800" dirty="0"/>
          </a:p>
        </p:txBody>
      </p:sp>
      <p:sp>
        <p:nvSpPr>
          <p:cNvPr id="3" name="Shape 1"/>
          <p:cNvSpPr/>
          <p:nvPr/>
        </p:nvSpPr>
        <p:spPr>
          <a:xfrm>
            <a:off x="365760" y="822960"/>
            <a:ext cx="4114800" cy="3931920"/>
          </a:xfrm>
          <a:prstGeom prst="roundRect">
            <a:avLst>
              <a:gd name="adj" fmla="val 2326"/>
            </a:avLst>
          </a:prstGeom>
          <a:solidFill>
            <a:srgbClr val="1B2A3B"/>
          </a:solidFill>
          <a:ln/>
          <a:effectLst>
            <a:outerShdw blurRad="101600" dist="38100" dir="2700000" algn="bl" rotWithShape="0">
              <a:srgbClr val="000000">
                <a:alpha val="18000"/>
              </a:srgbClr>
            </a:outerShdw>
          </a:effectLst>
        </p:spPr>
      </p:sp>
      <p:sp>
        <p:nvSpPr>
          <p:cNvPr id="4" name="Text 2"/>
          <p:cNvSpPr/>
          <p:nvPr/>
        </p:nvSpPr>
        <p:spPr>
          <a:xfrm>
            <a:off x="548640" y="914400"/>
            <a:ext cx="3657600" cy="274320"/>
          </a:xfrm>
          <a:prstGeom prst="rect">
            <a:avLst/>
          </a:prstGeom>
          <a:noFill/>
          <a:ln/>
        </p:spPr>
        <p:txBody>
          <a:bodyPr wrap="square" rtlCol="0" anchor="ctr"/>
          <a:lstStyle/>
          <a:p>
            <a:pPr marL="0" indent="0">
              <a:buNone/>
            </a:pPr>
            <a:r>
              <a:rPr lang="en-US" sz="1300" b="1" dirty="0">
                <a:solidFill>
                  <a:srgbClr val="00B4A6"/>
                </a:solidFill>
                <a:latin typeface="Calibri" pitchFamily="34" charset="0"/>
                <a:ea typeface="Calibri" pitchFamily="34" charset="-122"/>
                <a:cs typeface="Calibri" pitchFamily="34" charset="-120"/>
              </a:rPr>
              <a:t>Missing Values Detected</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3840480" cy="3291840"/>
        </p:xfrm>
        <a:graphic>
          <a:graphicData uri="http://schemas.openxmlformats.org/drawingml/2006/table">
            <a:tbl>
              <a:tblPr/>
              <a:tblGrid>
                <a:gridCol w="1645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11480">
                <a:tc>
                  <a:txBody>
                    <a:bodyPr/>
                    <a:lstStyle/>
                    <a:p>
                      <a:pPr marL="0" indent="0" algn="l">
                        <a:buNone/>
                      </a:pPr>
                      <a:r>
                        <a:rPr lang="en-US" sz="1000" b="1" dirty="0">
                          <a:solidFill>
                            <a:srgbClr val="00B4A6"/>
                          </a:solidFill>
                          <a:latin typeface="Calibri" pitchFamily="34" charset="0"/>
                          <a:ea typeface="Calibri" pitchFamily="34" charset="-122"/>
                          <a:cs typeface="Calibri" pitchFamily="34" charset="-120"/>
                        </a:rPr>
                        <a:t>Column</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E3A4A"/>
                    </a:solidFill>
                  </a:tcPr>
                </a:tc>
                <a:tc>
                  <a:txBody>
                    <a:bodyPr/>
                    <a:lstStyle/>
                    <a:p>
                      <a:pPr marL="0" indent="0" algn="ctr">
                        <a:buNone/>
                      </a:pPr>
                      <a:r>
                        <a:rPr lang="en-US" sz="1000" b="1" dirty="0">
                          <a:solidFill>
                            <a:srgbClr val="00B4A6"/>
                          </a:solidFill>
                          <a:latin typeface="Calibri" pitchFamily="34" charset="0"/>
                          <a:ea typeface="Calibri" pitchFamily="34" charset="-122"/>
                          <a:cs typeface="Calibri" pitchFamily="34" charset="-120"/>
                        </a:rPr>
                        <a:t>Missing %</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E3A4A"/>
                    </a:solidFill>
                  </a:tcPr>
                </a:tc>
                <a:tc>
                  <a:txBody>
                    <a:bodyPr/>
                    <a:lstStyle/>
                    <a:p>
                      <a:pPr marL="0" indent="0" algn="ctr">
                        <a:buNone/>
                      </a:pPr>
                      <a:r>
                        <a:rPr lang="en-US" sz="1000" b="1" dirty="0">
                          <a:solidFill>
                            <a:srgbClr val="00B4A6"/>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E3A4A"/>
                    </a:solidFill>
                  </a:tcPr>
                </a:tc>
                <a:extLst>
                  <a:ext uri="{0D108BD9-81ED-4DB2-BD59-A6C34878D82A}">
                    <a16:rowId xmlns:a16="http://schemas.microsoft.com/office/drawing/2014/main" val="10000"/>
                  </a:ext>
                </a:extLst>
              </a:tr>
              <a:tr h="411480">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weight</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96.8%</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tc>
                  <a:txBody>
                    <a:bodyPr/>
                    <a:lstStyle/>
                    <a:p>
                      <a:pPr marL="0" indent="0" algn="ctr">
                        <a:buNone/>
                      </a:pPr>
                      <a:r>
                        <a:rPr lang="en-US" sz="1000" dirty="0">
                          <a:solidFill>
                            <a:srgbClr val="E05C5C"/>
                          </a:solidFill>
                          <a:latin typeface="Calibri" pitchFamily="34" charset="0"/>
                          <a:ea typeface="Calibri" pitchFamily="34" charset="-122"/>
                          <a:cs typeface="Calibri" pitchFamily="34" charset="-120"/>
                        </a:rPr>
                        <a:t>Dropped</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extLst>
                  <a:ext uri="{0D108BD9-81ED-4DB2-BD59-A6C34878D82A}">
                    <a16:rowId xmlns:a16="http://schemas.microsoft.com/office/drawing/2014/main" val="10001"/>
                  </a:ext>
                </a:extLst>
              </a:tr>
              <a:tr h="411480">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max_glu_serum</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94.7%</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E05C5C"/>
                          </a:solidFill>
                          <a:latin typeface="Calibri" pitchFamily="34" charset="0"/>
                          <a:ea typeface="Calibri" pitchFamily="34" charset="-122"/>
                          <a:cs typeface="Calibri" pitchFamily="34" charset="-120"/>
                        </a:rPr>
                        <a:t>Dropped</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extLst>
                  <a:ext uri="{0D108BD9-81ED-4DB2-BD59-A6C34878D82A}">
                    <a16:rowId xmlns:a16="http://schemas.microsoft.com/office/drawing/2014/main" val="10002"/>
                  </a:ext>
                </a:extLst>
              </a:tr>
              <a:tr h="411480">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A1Cresult</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83.3%</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tc>
                  <a:txBody>
                    <a:bodyPr/>
                    <a:lstStyle/>
                    <a:p>
                      <a:pPr marL="0" indent="0" algn="ctr">
                        <a:buNone/>
                      </a:pPr>
                      <a:r>
                        <a:rPr lang="en-US" sz="1000" dirty="0">
                          <a:solidFill>
                            <a:srgbClr val="E05C5C"/>
                          </a:solidFill>
                          <a:latin typeface="Calibri" pitchFamily="34" charset="0"/>
                          <a:ea typeface="Calibri" pitchFamily="34" charset="-122"/>
                          <a:cs typeface="Calibri" pitchFamily="34" charset="-120"/>
                        </a:rPr>
                        <a:t>Dropped</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extLst>
                  <a:ext uri="{0D108BD9-81ED-4DB2-BD59-A6C34878D82A}">
                    <a16:rowId xmlns:a16="http://schemas.microsoft.com/office/drawing/2014/main" val="10003"/>
                  </a:ext>
                </a:extLst>
              </a:tr>
              <a:tr h="411480">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medical_specialty</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49.0%</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E05C5C"/>
                          </a:solidFill>
                          <a:latin typeface="Calibri" pitchFamily="34" charset="0"/>
                          <a:ea typeface="Calibri" pitchFamily="34" charset="-122"/>
                          <a:cs typeface="Calibri" pitchFamily="34" charset="-120"/>
                        </a:rPr>
                        <a:t>Dropped</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extLst>
                  <a:ext uri="{0D108BD9-81ED-4DB2-BD59-A6C34878D82A}">
                    <a16:rowId xmlns:a16="http://schemas.microsoft.com/office/drawing/2014/main" val="10004"/>
                  </a:ext>
                </a:extLst>
              </a:tr>
              <a:tr h="411480">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payer_code</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39.6%</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tc>
                  <a:txBody>
                    <a:bodyPr/>
                    <a:lstStyle/>
                    <a:p>
                      <a:pPr marL="0" indent="0" algn="ctr">
                        <a:buNone/>
                      </a:pPr>
                      <a:r>
                        <a:rPr lang="en-US" sz="1000" dirty="0">
                          <a:solidFill>
                            <a:srgbClr val="E05C5C"/>
                          </a:solidFill>
                          <a:latin typeface="Calibri" pitchFamily="34" charset="0"/>
                          <a:ea typeface="Calibri" pitchFamily="34" charset="-122"/>
                          <a:cs typeface="Calibri" pitchFamily="34" charset="-120"/>
                        </a:rPr>
                        <a:t>Dropped</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extLst>
                  <a:ext uri="{0D108BD9-81ED-4DB2-BD59-A6C34878D82A}">
                    <a16:rowId xmlns:a16="http://schemas.microsoft.com/office/drawing/2014/main" val="10005"/>
                  </a:ext>
                </a:extLst>
              </a:tr>
              <a:tr h="411480">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race</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tc>
                  <a:txBody>
                    <a:bodyPr/>
                    <a:lstStyle/>
                    <a:p>
                      <a:pPr marL="0" indent="0" algn="ctr">
                        <a:buNone/>
                      </a:pPr>
                      <a:r>
                        <a:rPr lang="en-US" sz="1000" dirty="0">
                          <a:solidFill>
                            <a:srgbClr val="4CAF8C"/>
                          </a:solidFill>
                          <a:latin typeface="Calibri" pitchFamily="34" charset="0"/>
                          <a:ea typeface="Calibri" pitchFamily="34" charset="-122"/>
                          <a:cs typeface="Calibri" pitchFamily="34" charset="-120"/>
                        </a:rPr>
                        <a:t>Filled</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B2A3B"/>
                    </a:solidFill>
                  </a:tcPr>
                </a:tc>
                <a:extLst>
                  <a:ext uri="{0D108BD9-81ED-4DB2-BD59-A6C34878D82A}">
                    <a16:rowId xmlns:a16="http://schemas.microsoft.com/office/drawing/2014/main" val="10006"/>
                  </a:ext>
                </a:extLst>
              </a:tr>
              <a:tr h="411480">
                <a:tc>
                  <a:txBody>
                    <a:bodyPr/>
                    <a:lstStyle/>
                    <a:p>
                      <a:pPr marL="0" indent="0" algn="l">
                        <a:buNone/>
                      </a:pPr>
                      <a:r>
                        <a:rPr lang="en-US" sz="1000" dirty="0">
                          <a:solidFill>
                            <a:srgbClr val="FFFFFF"/>
                          </a:solidFill>
                          <a:latin typeface="Calibri" pitchFamily="34" charset="0"/>
                          <a:ea typeface="Calibri" pitchFamily="34" charset="-122"/>
                          <a:cs typeface="Calibri" pitchFamily="34" charset="-120"/>
                        </a:rPr>
                        <a:t>diag_1/2/3</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&lt;1.5%</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tc>
                  <a:txBody>
                    <a:bodyPr/>
                    <a:lstStyle/>
                    <a:p>
                      <a:pPr marL="0" indent="0" algn="ctr">
                        <a:buNone/>
                      </a:pPr>
                      <a:r>
                        <a:rPr lang="en-US" sz="1000" dirty="0">
                          <a:solidFill>
                            <a:srgbClr val="4CAF8C"/>
                          </a:solidFill>
                          <a:latin typeface="Calibri" pitchFamily="34" charset="0"/>
                          <a:ea typeface="Calibri" pitchFamily="34" charset="-122"/>
                          <a:cs typeface="Calibri" pitchFamily="34" charset="-120"/>
                        </a:rPr>
                        <a:t>Rows dropped</a:t>
                      </a:r>
                      <a:endParaRPr lang="en-US" sz="1000" dirty="0">
                        <a:latin typeface="Calibri" charset="0"/>
                        <a:ea typeface="Calibri" charset="0"/>
                        <a:cs typeface="Calibri" charset="0"/>
                      </a:endParaRPr>
                    </a:p>
                  </a:txBody>
                  <a:tcPr>
                    <a:lnL w="6350" cap="flat" cmpd="sng" algn="ctr">
                      <a:solidFill>
                        <a:srgbClr val="2A4A5A"/>
                      </a:solidFill>
                      <a:prstDash val="solid"/>
                      <a:round/>
                      <a:headEnd type="none" w="med" len="med"/>
                      <a:tailEnd type="none" w="med" len="med"/>
                    </a:lnL>
                    <a:lnR w="6350" cap="flat" cmpd="sng" algn="ctr">
                      <a:solidFill>
                        <a:srgbClr val="2A4A5A"/>
                      </a:solidFill>
                      <a:prstDash val="solid"/>
                      <a:round/>
                      <a:headEnd type="none" w="med" len="med"/>
                      <a:tailEnd type="none" w="med" len="med"/>
                    </a:lnR>
                    <a:lnT w="6350" cap="flat" cmpd="sng" algn="ctr">
                      <a:solidFill>
                        <a:srgbClr val="2A4A5A"/>
                      </a:solidFill>
                      <a:prstDash val="solid"/>
                      <a:round/>
                      <a:headEnd type="none" w="med" len="med"/>
                      <a:tailEnd type="none" w="med" len="med"/>
                    </a:lnT>
                    <a:lnB w="6350" cap="flat" cmpd="sng" algn="ctr">
                      <a:solidFill>
                        <a:srgbClr val="2A4A5A"/>
                      </a:solidFill>
                      <a:prstDash val="solid"/>
                      <a:round/>
                      <a:headEnd type="none" w="med" len="med"/>
                      <a:tailEnd type="none" w="med" len="med"/>
                    </a:lnB>
                    <a:solidFill>
                      <a:srgbClr val="152030"/>
                    </a:solidFill>
                  </a:tcPr>
                </a:tc>
                <a:extLst>
                  <a:ext uri="{0D108BD9-81ED-4DB2-BD59-A6C34878D82A}">
                    <a16:rowId xmlns:a16="http://schemas.microsoft.com/office/drawing/2014/main" val="10007"/>
                  </a:ext>
                </a:extLst>
              </a:tr>
            </a:tbl>
          </a:graphicData>
        </a:graphic>
      </p:graphicFrame>
      <p:sp>
        <p:nvSpPr>
          <p:cNvPr id="6" name="Shape 3"/>
          <p:cNvSpPr/>
          <p:nvPr/>
        </p:nvSpPr>
        <p:spPr>
          <a:xfrm>
            <a:off x="4663440" y="822960"/>
            <a:ext cx="4114800" cy="3931920"/>
          </a:xfrm>
          <a:prstGeom prst="roundRect">
            <a:avLst>
              <a:gd name="adj" fmla="val 2326"/>
            </a:avLst>
          </a:prstGeom>
          <a:solidFill>
            <a:srgbClr val="1B2A3B"/>
          </a:solidFill>
          <a:ln/>
          <a:effectLst>
            <a:outerShdw blurRad="101600" dist="38100" dir="2700000" algn="bl" rotWithShape="0">
              <a:srgbClr val="000000">
                <a:alpha val="18000"/>
              </a:srgbClr>
            </a:outerShdw>
          </a:effectLst>
        </p:spPr>
      </p:sp>
      <p:sp>
        <p:nvSpPr>
          <p:cNvPr id="7" name="Text 4"/>
          <p:cNvSpPr/>
          <p:nvPr/>
        </p:nvSpPr>
        <p:spPr>
          <a:xfrm>
            <a:off x="4846320" y="914400"/>
            <a:ext cx="3657600" cy="274320"/>
          </a:xfrm>
          <a:prstGeom prst="rect">
            <a:avLst/>
          </a:prstGeom>
          <a:noFill/>
          <a:ln/>
        </p:spPr>
        <p:txBody>
          <a:bodyPr wrap="square" rtlCol="0" anchor="ctr"/>
          <a:lstStyle/>
          <a:p>
            <a:pPr marL="0" indent="0">
              <a:buNone/>
            </a:pPr>
            <a:r>
              <a:rPr lang="en-US" sz="1300" b="1" dirty="0">
                <a:solidFill>
                  <a:srgbClr val="00B4A6"/>
                </a:solidFill>
                <a:latin typeface="Calibri" pitchFamily="34" charset="0"/>
                <a:ea typeface="Calibri" pitchFamily="34" charset="-122"/>
                <a:cs typeface="Calibri" pitchFamily="34" charset="-120"/>
              </a:rPr>
              <a:t>Cleaning Steps</a:t>
            </a:r>
            <a:endParaRPr lang="en-US" sz="1300" dirty="0"/>
          </a:p>
        </p:txBody>
      </p:sp>
      <p:sp>
        <p:nvSpPr>
          <p:cNvPr id="8" name="Shape 5"/>
          <p:cNvSpPr/>
          <p:nvPr/>
        </p:nvSpPr>
        <p:spPr>
          <a:xfrm>
            <a:off x="4800600" y="1261872"/>
            <a:ext cx="228600" cy="228600"/>
          </a:xfrm>
          <a:prstGeom prst="ellipse">
            <a:avLst/>
          </a:prstGeom>
          <a:solidFill>
            <a:srgbClr val="00B4A6"/>
          </a:solidFill>
          <a:ln/>
        </p:spPr>
      </p:sp>
      <p:sp>
        <p:nvSpPr>
          <p:cNvPr id="9" name="Text 6"/>
          <p:cNvSpPr/>
          <p:nvPr/>
        </p:nvSpPr>
        <p:spPr>
          <a:xfrm>
            <a:off x="5074920" y="1234440"/>
            <a:ext cx="35204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Replaced '?' with NaN across all columns</a:t>
            </a:r>
            <a:endParaRPr lang="en-US" sz="1000" dirty="0"/>
          </a:p>
        </p:txBody>
      </p:sp>
      <p:sp>
        <p:nvSpPr>
          <p:cNvPr id="10" name="Shape 7"/>
          <p:cNvSpPr/>
          <p:nvPr/>
        </p:nvSpPr>
        <p:spPr>
          <a:xfrm>
            <a:off x="4800600" y="1737360"/>
            <a:ext cx="228600" cy="228600"/>
          </a:xfrm>
          <a:prstGeom prst="ellipse">
            <a:avLst/>
          </a:prstGeom>
          <a:solidFill>
            <a:srgbClr val="00B4A6"/>
          </a:solidFill>
          <a:ln/>
        </p:spPr>
      </p:sp>
      <p:sp>
        <p:nvSpPr>
          <p:cNvPr id="11" name="Text 8"/>
          <p:cNvSpPr/>
          <p:nvPr/>
        </p:nvSpPr>
        <p:spPr>
          <a:xfrm>
            <a:off x="5074920" y="1709928"/>
            <a:ext cx="35204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Dropped 5 high-missing columns (&gt;39%)</a:t>
            </a:r>
            <a:endParaRPr lang="en-US" sz="1000" dirty="0"/>
          </a:p>
        </p:txBody>
      </p:sp>
      <p:sp>
        <p:nvSpPr>
          <p:cNvPr id="12" name="Shape 9"/>
          <p:cNvSpPr/>
          <p:nvPr/>
        </p:nvSpPr>
        <p:spPr>
          <a:xfrm>
            <a:off x="4800600" y="2212848"/>
            <a:ext cx="228600" cy="228600"/>
          </a:xfrm>
          <a:prstGeom prst="ellipse">
            <a:avLst/>
          </a:prstGeom>
          <a:solidFill>
            <a:srgbClr val="00B4A6"/>
          </a:solidFill>
          <a:ln/>
        </p:spPr>
      </p:sp>
      <p:sp>
        <p:nvSpPr>
          <p:cNvPr id="13" name="Text 10"/>
          <p:cNvSpPr/>
          <p:nvPr/>
        </p:nvSpPr>
        <p:spPr>
          <a:xfrm>
            <a:off x="5074920" y="2185416"/>
            <a:ext cx="35204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Filled race nulls with 'Unknown' (2.2%)</a:t>
            </a:r>
            <a:endParaRPr lang="en-US" sz="1000" dirty="0"/>
          </a:p>
        </p:txBody>
      </p:sp>
      <p:sp>
        <p:nvSpPr>
          <p:cNvPr id="14" name="Shape 11"/>
          <p:cNvSpPr/>
          <p:nvPr/>
        </p:nvSpPr>
        <p:spPr>
          <a:xfrm>
            <a:off x="4800600" y="2688336"/>
            <a:ext cx="228600" cy="228600"/>
          </a:xfrm>
          <a:prstGeom prst="ellipse">
            <a:avLst/>
          </a:prstGeom>
          <a:solidFill>
            <a:srgbClr val="00B4A6"/>
          </a:solidFill>
          <a:ln/>
        </p:spPr>
      </p:sp>
      <p:sp>
        <p:nvSpPr>
          <p:cNvPr id="15" name="Text 12"/>
          <p:cNvSpPr/>
          <p:nvPr/>
        </p:nvSpPr>
        <p:spPr>
          <a:xfrm>
            <a:off x="5074920" y="2660904"/>
            <a:ext cx="35204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Removed rows with missing diagnoses</a:t>
            </a:r>
            <a:endParaRPr lang="en-US" sz="1000" dirty="0"/>
          </a:p>
        </p:txBody>
      </p:sp>
      <p:sp>
        <p:nvSpPr>
          <p:cNvPr id="16" name="Shape 13"/>
          <p:cNvSpPr/>
          <p:nvPr/>
        </p:nvSpPr>
        <p:spPr>
          <a:xfrm>
            <a:off x="4800600" y="3163824"/>
            <a:ext cx="228600" cy="228600"/>
          </a:xfrm>
          <a:prstGeom prst="ellipse">
            <a:avLst/>
          </a:prstGeom>
          <a:solidFill>
            <a:srgbClr val="00B4A6"/>
          </a:solidFill>
          <a:ln/>
        </p:spPr>
      </p:sp>
      <p:sp>
        <p:nvSpPr>
          <p:cNvPr id="17" name="Text 14"/>
          <p:cNvSpPr/>
          <p:nvPr/>
        </p:nvSpPr>
        <p:spPr>
          <a:xfrm>
            <a:off x="5074920" y="3136392"/>
            <a:ext cx="35204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Removed 3 invalid gender entries</a:t>
            </a:r>
            <a:endParaRPr lang="en-US" sz="1000" dirty="0"/>
          </a:p>
        </p:txBody>
      </p:sp>
      <p:sp>
        <p:nvSpPr>
          <p:cNvPr id="18" name="Shape 15"/>
          <p:cNvSpPr/>
          <p:nvPr/>
        </p:nvSpPr>
        <p:spPr>
          <a:xfrm>
            <a:off x="4800600" y="3639312"/>
            <a:ext cx="228600" cy="228600"/>
          </a:xfrm>
          <a:prstGeom prst="ellipse">
            <a:avLst/>
          </a:prstGeom>
          <a:solidFill>
            <a:srgbClr val="00B4A6"/>
          </a:solidFill>
          <a:ln/>
        </p:spPr>
      </p:sp>
      <p:sp>
        <p:nvSpPr>
          <p:cNvPr id="19" name="Text 16"/>
          <p:cNvSpPr/>
          <p:nvPr/>
        </p:nvSpPr>
        <p:spPr>
          <a:xfrm>
            <a:off x="5074920" y="3611880"/>
            <a:ext cx="35204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Dropped ID columns (encounter_id, patient_nbr)</a:t>
            </a:r>
            <a:endParaRPr lang="en-US" sz="1000" dirty="0"/>
          </a:p>
        </p:txBody>
      </p:sp>
      <p:sp>
        <p:nvSpPr>
          <p:cNvPr id="20" name="Shape 17"/>
          <p:cNvSpPr/>
          <p:nvPr/>
        </p:nvSpPr>
        <p:spPr>
          <a:xfrm>
            <a:off x="4800600" y="4114800"/>
            <a:ext cx="228600" cy="228600"/>
          </a:xfrm>
          <a:prstGeom prst="ellipse">
            <a:avLst/>
          </a:prstGeom>
          <a:solidFill>
            <a:srgbClr val="00B4A6"/>
          </a:solidFill>
          <a:ln/>
        </p:spPr>
      </p:sp>
      <p:sp>
        <p:nvSpPr>
          <p:cNvPr id="21" name="Text 18"/>
          <p:cNvSpPr/>
          <p:nvPr/>
        </p:nvSpPr>
        <p:spPr>
          <a:xfrm>
            <a:off x="5074920" y="4087368"/>
            <a:ext cx="352044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Created readmitted_binary &amp; readmitted_any columns</a:t>
            </a:r>
            <a:endParaRPr lang="en-US" sz="1000" dirty="0"/>
          </a:p>
        </p:txBody>
      </p:sp>
      <p:sp>
        <p:nvSpPr>
          <p:cNvPr id="22" name="Shape 19"/>
          <p:cNvSpPr/>
          <p:nvPr/>
        </p:nvSpPr>
        <p:spPr>
          <a:xfrm>
            <a:off x="365760" y="4663440"/>
            <a:ext cx="8412480" cy="347472"/>
          </a:xfrm>
          <a:prstGeom prst="roundRect">
            <a:avLst>
              <a:gd name="adj" fmla="val 21053"/>
            </a:avLst>
          </a:prstGeom>
          <a:solidFill>
            <a:srgbClr val="00B4A6"/>
          </a:solidFill>
          <a:ln/>
        </p:spPr>
      </p:sp>
      <p:sp>
        <p:nvSpPr>
          <p:cNvPr id="23" name="Text 20"/>
          <p:cNvSpPr/>
          <p:nvPr/>
        </p:nvSpPr>
        <p:spPr>
          <a:xfrm>
            <a:off x="365760" y="4663440"/>
            <a:ext cx="8412480" cy="34747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Final Clean Dataset: 100,241 rows × 45 columns  |  Zero null values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Phase 2 — Exploratory Data Analysis</a:t>
            </a:r>
            <a:endParaRPr lang="en-US" sz="2800" dirty="0"/>
          </a:p>
        </p:txBody>
      </p:sp>
      <p:sp>
        <p:nvSpPr>
          <p:cNvPr id="3" name="Shape 1"/>
          <p:cNvSpPr/>
          <p:nvPr/>
        </p:nvSpPr>
        <p:spPr>
          <a:xfrm>
            <a:off x="365760" y="822960"/>
            <a:ext cx="2651760" cy="914400"/>
          </a:xfrm>
          <a:prstGeom prst="roundRect">
            <a:avLst>
              <a:gd name="adj" fmla="val 10000"/>
            </a:avLst>
          </a:prstGeom>
          <a:solidFill>
            <a:srgbClr val="1B2A3B"/>
          </a:solidFill>
          <a:ln/>
          <a:effectLst>
            <a:outerShdw blurRad="101600" dist="38100" dir="2700000" algn="bl" rotWithShape="0">
              <a:srgbClr val="000000">
                <a:alpha val="18000"/>
              </a:srgbClr>
            </a:outerShdw>
          </a:effectLst>
        </p:spPr>
      </p:sp>
      <p:sp>
        <p:nvSpPr>
          <p:cNvPr id="4" name="Text 2"/>
          <p:cNvSpPr/>
          <p:nvPr/>
        </p:nvSpPr>
        <p:spPr>
          <a:xfrm>
            <a:off x="365760" y="868680"/>
            <a:ext cx="2651760" cy="457200"/>
          </a:xfrm>
          <a:prstGeom prst="rect">
            <a:avLst/>
          </a:prstGeom>
          <a:noFill/>
          <a:ln/>
        </p:spPr>
        <p:txBody>
          <a:bodyPr wrap="square" rtlCol="0" anchor="ctr"/>
          <a:lstStyle/>
          <a:p>
            <a:pPr marL="0" indent="0" algn="ctr">
              <a:buNone/>
            </a:pPr>
            <a:r>
              <a:rPr lang="en-US" sz="2200" b="1" dirty="0">
                <a:solidFill>
                  <a:srgbClr val="E05C5C"/>
                </a:solidFill>
                <a:latin typeface="Calibri" pitchFamily="34" charset="0"/>
                <a:ea typeface="Calibri" pitchFamily="34" charset="-122"/>
                <a:cs typeface="Calibri" pitchFamily="34" charset="-120"/>
              </a:rPr>
              <a:t>46.31%</a:t>
            </a:r>
            <a:endParaRPr lang="en-US" sz="2200" dirty="0"/>
          </a:p>
        </p:txBody>
      </p:sp>
      <p:sp>
        <p:nvSpPr>
          <p:cNvPr id="5" name="Text 3"/>
          <p:cNvSpPr/>
          <p:nvPr/>
        </p:nvSpPr>
        <p:spPr>
          <a:xfrm>
            <a:off x="365760" y="1298448"/>
            <a:ext cx="2651760" cy="32004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Overall Readmission Rate</a:t>
            </a:r>
            <a:endParaRPr lang="en-US" sz="1000" dirty="0"/>
          </a:p>
        </p:txBody>
      </p:sp>
      <p:sp>
        <p:nvSpPr>
          <p:cNvPr id="6" name="Shape 4"/>
          <p:cNvSpPr/>
          <p:nvPr/>
        </p:nvSpPr>
        <p:spPr>
          <a:xfrm>
            <a:off x="3246120" y="822960"/>
            <a:ext cx="2651760" cy="914400"/>
          </a:xfrm>
          <a:prstGeom prst="roundRect">
            <a:avLst>
              <a:gd name="adj" fmla="val 10000"/>
            </a:avLst>
          </a:prstGeom>
          <a:solidFill>
            <a:srgbClr val="1B2A3B"/>
          </a:solidFill>
          <a:ln/>
          <a:effectLst>
            <a:outerShdw blurRad="101600" dist="38100" dir="2700000" algn="bl" rotWithShape="0">
              <a:srgbClr val="000000">
                <a:alpha val="18000"/>
              </a:srgbClr>
            </a:outerShdw>
          </a:effectLst>
        </p:spPr>
      </p:sp>
      <p:sp>
        <p:nvSpPr>
          <p:cNvPr id="7" name="Text 5"/>
          <p:cNvSpPr/>
          <p:nvPr/>
        </p:nvSpPr>
        <p:spPr>
          <a:xfrm>
            <a:off x="3246120" y="868680"/>
            <a:ext cx="2651760" cy="457200"/>
          </a:xfrm>
          <a:prstGeom prst="rect">
            <a:avLst/>
          </a:prstGeom>
          <a:noFill/>
          <a:ln/>
        </p:spPr>
        <p:txBody>
          <a:bodyPr wrap="square" rtlCol="0" anchor="ctr"/>
          <a:lstStyle/>
          <a:p>
            <a:pPr marL="0" indent="0" algn="ctr">
              <a:buNone/>
            </a:pPr>
            <a:r>
              <a:rPr lang="en-US" sz="2200" b="1" dirty="0">
                <a:solidFill>
                  <a:srgbClr val="00B4A6"/>
                </a:solidFill>
                <a:latin typeface="Calibri" pitchFamily="34" charset="0"/>
                <a:ea typeface="Calibri" pitchFamily="34" charset="-122"/>
                <a:cs typeface="Calibri" pitchFamily="34" charset="-120"/>
              </a:rPr>
              <a:t>100,241</a:t>
            </a:r>
            <a:endParaRPr lang="en-US" sz="2200" dirty="0"/>
          </a:p>
        </p:txBody>
      </p:sp>
      <p:sp>
        <p:nvSpPr>
          <p:cNvPr id="8" name="Text 6"/>
          <p:cNvSpPr/>
          <p:nvPr/>
        </p:nvSpPr>
        <p:spPr>
          <a:xfrm>
            <a:off x="3246120" y="1298448"/>
            <a:ext cx="2651760" cy="32004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Total Patients Analyzed</a:t>
            </a:r>
            <a:endParaRPr lang="en-US" sz="1000" dirty="0"/>
          </a:p>
        </p:txBody>
      </p:sp>
      <p:sp>
        <p:nvSpPr>
          <p:cNvPr id="9" name="Shape 7"/>
          <p:cNvSpPr/>
          <p:nvPr/>
        </p:nvSpPr>
        <p:spPr>
          <a:xfrm>
            <a:off x="6126480" y="822960"/>
            <a:ext cx="2651760" cy="914400"/>
          </a:xfrm>
          <a:prstGeom prst="roundRect">
            <a:avLst>
              <a:gd name="adj" fmla="val 10000"/>
            </a:avLst>
          </a:prstGeom>
          <a:solidFill>
            <a:srgbClr val="1B2A3B"/>
          </a:solidFill>
          <a:ln/>
          <a:effectLst>
            <a:outerShdw blurRad="101600" dist="38100" dir="2700000" algn="bl" rotWithShape="0">
              <a:srgbClr val="000000">
                <a:alpha val="18000"/>
              </a:srgbClr>
            </a:outerShdw>
          </a:effectLst>
        </p:spPr>
      </p:sp>
      <p:sp>
        <p:nvSpPr>
          <p:cNvPr id="10" name="Text 8"/>
          <p:cNvSpPr/>
          <p:nvPr/>
        </p:nvSpPr>
        <p:spPr>
          <a:xfrm>
            <a:off x="6126480" y="868680"/>
            <a:ext cx="2651760" cy="457200"/>
          </a:xfrm>
          <a:prstGeom prst="rect">
            <a:avLst/>
          </a:prstGeom>
          <a:noFill/>
          <a:ln/>
        </p:spPr>
        <p:txBody>
          <a:bodyPr wrap="square" rtlCol="0" anchor="ctr"/>
          <a:lstStyle/>
          <a:p>
            <a:pPr marL="0" indent="0" algn="ctr">
              <a:buNone/>
            </a:pPr>
            <a:r>
              <a:rPr lang="en-US" sz="2200" b="1" dirty="0">
                <a:solidFill>
                  <a:srgbClr val="4A90D9"/>
                </a:solidFill>
                <a:latin typeface="Calibri" pitchFamily="34" charset="0"/>
                <a:ea typeface="Calibri" pitchFamily="34" charset="-122"/>
                <a:cs typeface="Calibri" pitchFamily="34" charset="-120"/>
              </a:rPr>
              <a:t>4.42 days</a:t>
            </a:r>
            <a:endParaRPr lang="en-US" sz="2200" dirty="0"/>
          </a:p>
        </p:txBody>
      </p:sp>
      <p:sp>
        <p:nvSpPr>
          <p:cNvPr id="11" name="Text 9"/>
          <p:cNvSpPr/>
          <p:nvPr/>
        </p:nvSpPr>
        <p:spPr>
          <a:xfrm>
            <a:off x="6126480" y="1298448"/>
            <a:ext cx="2651760" cy="32004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Avg Hospital Stay</a:t>
            </a:r>
            <a:endParaRPr lang="en-US" sz="1000" dirty="0"/>
          </a:p>
        </p:txBody>
      </p:sp>
      <p:graphicFrame>
        <p:nvGraphicFramePr>
          <p:cNvPr id="12" name="Chart 0"/>
          <p:cNvGraphicFramePr/>
          <p:nvPr/>
        </p:nvGraphicFramePr>
        <p:xfrm>
          <a:off x="365760" y="1874520"/>
          <a:ext cx="530352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
          <p:cNvGraphicFramePr/>
          <p:nvPr/>
        </p:nvGraphicFramePr>
        <p:xfrm>
          <a:off x="5852160" y="1874520"/>
          <a:ext cx="2926080" cy="30175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Phase 2 — EDA: Race &amp; Medication Insights</a:t>
            </a:r>
            <a:endParaRPr lang="en-US" sz="2800" dirty="0"/>
          </a:p>
        </p:txBody>
      </p:sp>
      <p:graphicFrame>
        <p:nvGraphicFramePr>
          <p:cNvPr id="3" name="Chart 0"/>
          <p:cNvGraphicFramePr/>
          <p:nvPr/>
        </p:nvGraphicFramePr>
        <p:xfrm>
          <a:off x="365760" y="822960"/>
          <a:ext cx="5120640" cy="2651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365760" y="3611880"/>
          <a:ext cx="5120640" cy="1371600"/>
        </p:xfrm>
        <a:graphic>
          <a:graphicData uri="http://schemas.openxmlformats.org/drawingml/2006/chart">
            <c:chart xmlns:c="http://schemas.openxmlformats.org/drawingml/2006/chart" xmlns:r="http://schemas.openxmlformats.org/officeDocument/2006/relationships" r:id="rId4"/>
          </a:graphicData>
        </a:graphic>
      </p:graphicFrame>
      <p:sp>
        <p:nvSpPr>
          <p:cNvPr id="5" name="Shape 1"/>
          <p:cNvSpPr/>
          <p:nvPr/>
        </p:nvSpPr>
        <p:spPr>
          <a:xfrm>
            <a:off x="5623560" y="822960"/>
            <a:ext cx="3154680" cy="4160520"/>
          </a:xfrm>
          <a:prstGeom prst="roundRect">
            <a:avLst>
              <a:gd name="adj" fmla="val 2899"/>
            </a:avLst>
          </a:prstGeom>
          <a:solidFill>
            <a:srgbClr val="1B2A3B"/>
          </a:solidFill>
          <a:ln/>
          <a:effectLst>
            <a:outerShdw blurRad="101600" dist="38100" dir="2700000" algn="bl" rotWithShape="0">
              <a:srgbClr val="000000">
                <a:alpha val="18000"/>
              </a:srgbClr>
            </a:outerShdw>
          </a:effectLst>
        </p:spPr>
      </p:sp>
      <p:sp>
        <p:nvSpPr>
          <p:cNvPr id="6" name="Text 2"/>
          <p:cNvSpPr/>
          <p:nvPr/>
        </p:nvSpPr>
        <p:spPr>
          <a:xfrm>
            <a:off x="5760720" y="914400"/>
            <a:ext cx="2834640" cy="274320"/>
          </a:xfrm>
          <a:prstGeom prst="rect">
            <a:avLst/>
          </a:prstGeom>
          <a:noFill/>
          <a:ln/>
        </p:spPr>
        <p:txBody>
          <a:bodyPr wrap="square" rtlCol="0" anchor="ctr"/>
          <a:lstStyle/>
          <a:p>
            <a:pPr marL="0" indent="0">
              <a:buNone/>
            </a:pPr>
            <a:r>
              <a:rPr lang="en-US" sz="1300" b="1" dirty="0">
                <a:solidFill>
                  <a:srgbClr val="00B4A6"/>
                </a:solidFill>
                <a:latin typeface="Calibri" pitchFamily="34" charset="0"/>
                <a:ea typeface="Calibri" pitchFamily="34" charset="-122"/>
                <a:cs typeface="Calibri" pitchFamily="34" charset="-120"/>
              </a:rPr>
              <a:t>Key Insights</a:t>
            </a:r>
            <a:endParaRPr lang="en-US" sz="1300" dirty="0"/>
          </a:p>
        </p:txBody>
      </p:sp>
      <p:sp>
        <p:nvSpPr>
          <p:cNvPr id="7" name="Text 3"/>
          <p:cNvSpPr/>
          <p:nvPr/>
        </p:nvSpPr>
        <p:spPr>
          <a:xfrm>
            <a:off x="5715000" y="1261872"/>
            <a:ext cx="292608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Caucasian patients have highest readmission rate at 47.1%</a:t>
            </a:r>
            <a:endParaRPr lang="en-US" sz="1000" dirty="0"/>
          </a:p>
        </p:txBody>
      </p:sp>
      <p:sp>
        <p:nvSpPr>
          <p:cNvPr id="8" name="Text 4"/>
          <p:cNvSpPr/>
          <p:nvPr/>
        </p:nvSpPr>
        <p:spPr>
          <a:xfrm>
            <a:off x="5715000" y="1856232"/>
            <a:ext cx="292608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Asian patients have lowest at 35.8% — nearly 12% gap</a:t>
            </a:r>
            <a:endParaRPr lang="en-US" sz="1000" dirty="0"/>
          </a:p>
        </p:txBody>
      </p:sp>
      <p:sp>
        <p:nvSpPr>
          <p:cNvPr id="9" name="Text 5"/>
          <p:cNvSpPr/>
          <p:nvPr/>
        </p:nvSpPr>
        <p:spPr>
          <a:xfrm>
            <a:off x="5715000" y="2450592"/>
            <a:ext cx="292608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Heart Failure (428) is #1 diagnosis — 6,853 patients</a:t>
            </a:r>
            <a:endParaRPr lang="en-US" sz="1000" dirty="0"/>
          </a:p>
        </p:txBody>
      </p:sp>
      <p:sp>
        <p:nvSpPr>
          <p:cNvPr id="10" name="Text 6"/>
          <p:cNvSpPr/>
          <p:nvPr/>
        </p:nvSpPr>
        <p:spPr>
          <a:xfrm>
            <a:off x="5715000" y="3044952"/>
            <a:ext cx="292608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Coronary Artery Disease (414) is #2 — 6,545 patients</a:t>
            </a:r>
            <a:endParaRPr lang="en-US" sz="1000" dirty="0"/>
          </a:p>
        </p:txBody>
      </p:sp>
      <p:sp>
        <p:nvSpPr>
          <p:cNvPr id="11" name="Text 7"/>
          <p:cNvSpPr/>
          <p:nvPr/>
        </p:nvSpPr>
        <p:spPr>
          <a:xfrm>
            <a:off x="5715000" y="3639312"/>
            <a:ext cx="292608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Patients on 10-30 meds show 45-50% readmission rate</a:t>
            </a:r>
            <a:endParaRPr lang="en-US" sz="1000" dirty="0"/>
          </a:p>
        </p:txBody>
      </p:sp>
      <p:sp>
        <p:nvSpPr>
          <p:cNvPr id="12" name="Text 8"/>
          <p:cNvSpPr/>
          <p:nvPr/>
        </p:nvSpPr>
        <p:spPr>
          <a:xfrm>
            <a:off x="5715000" y="4233672"/>
            <a:ext cx="292608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Readmission crosses 50% from day 8 of hospital stay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Phase 3 — SQL Analysis (5 Business Queries)</a:t>
            </a:r>
            <a:endParaRPr lang="en-US" sz="2800" dirty="0"/>
          </a:p>
        </p:txBody>
      </p:sp>
      <p:sp>
        <p:nvSpPr>
          <p:cNvPr id="3" name="Shape 1"/>
          <p:cNvSpPr/>
          <p:nvPr/>
        </p:nvSpPr>
        <p:spPr>
          <a:xfrm>
            <a:off x="365760" y="868680"/>
            <a:ext cx="8412480" cy="731520"/>
          </a:xfrm>
          <a:prstGeom prst="roundRect">
            <a:avLst>
              <a:gd name="adj" fmla="val 10000"/>
            </a:avLst>
          </a:prstGeom>
          <a:solidFill>
            <a:srgbClr val="1B2A3B"/>
          </a:solidFill>
          <a:ln/>
          <a:effectLst>
            <a:outerShdw blurRad="101600" dist="38100" dir="2700000" algn="bl" rotWithShape="0">
              <a:srgbClr val="000000">
                <a:alpha val="18000"/>
              </a:srgbClr>
            </a:outerShdw>
          </a:effectLst>
        </p:spPr>
      </p:sp>
      <p:sp>
        <p:nvSpPr>
          <p:cNvPr id="4" name="Shape 2"/>
          <p:cNvSpPr/>
          <p:nvPr/>
        </p:nvSpPr>
        <p:spPr>
          <a:xfrm>
            <a:off x="457200" y="996696"/>
            <a:ext cx="384048" cy="384048"/>
          </a:xfrm>
          <a:prstGeom prst="roundRect">
            <a:avLst>
              <a:gd name="adj" fmla="val 14286"/>
            </a:avLst>
          </a:prstGeom>
          <a:solidFill>
            <a:srgbClr val="00B4A6"/>
          </a:solidFill>
          <a:ln/>
        </p:spPr>
      </p:sp>
      <p:sp>
        <p:nvSpPr>
          <p:cNvPr id="5" name="Text 3"/>
          <p:cNvSpPr/>
          <p:nvPr/>
        </p:nvSpPr>
        <p:spPr>
          <a:xfrm>
            <a:off x="457200" y="996696"/>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Q1</a:t>
            </a:r>
            <a:endParaRPr lang="en-US" sz="1000" dirty="0"/>
          </a:p>
        </p:txBody>
      </p:sp>
      <p:sp>
        <p:nvSpPr>
          <p:cNvPr id="6" name="Text 4"/>
          <p:cNvSpPr/>
          <p:nvPr/>
        </p:nvSpPr>
        <p:spPr>
          <a:xfrm>
            <a:off x="960120" y="941832"/>
            <a:ext cx="22860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Readmission by Age</a:t>
            </a:r>
            <a:endParaRPr lang="en-US" sz="1100" dirty="0"/>
          </a:p>
        </p:txBody>
      </p:sp>
      <p:sp>
        <p:nvSpPr>
          <p:cNvPr id="7" name="Text 5"/>
          <p:cNvSpPr/>
          <p:nvPr/>
        </p:nvSpPr>
        <p:spPr>
          <a:xfrm>
            <a:off x="960120" y="1216152"/>
            <a:ext cx="2560320" cy="228600"/>
          </a:xfrm>
          <a:prstGeom prst="rect">
            <a:avLst/>
          </a:prstGeom>
          <a:noFill/>
          <a:ln/>
        </p:spPr>
        <p:txBody>
          <a:bodyPr wrap="square" rtlCol="0" anchor="ctr"/>
          <a:lstStyle/>
          <a:p>
            <a:pPr marL="0" indent="0">
              <a:buNone/>
            </a:pPr>
            <a:r>
              <a:rPr lang="en-US" sz="900" dirty="0">
                <a:solidFill>
                  <a:srgbClr val="00B4A6"/>
                </a:solidFill>
                <a:latin typeface="Calibri" pitchFamily="34" charset="0"/>
                <a:ea typeface="Calibri" pitchFamily="34" charset="-122"/>
                <a:cs typeface="Calibri" pitchFamily="34" charset="-120"/>
              </a:rPr>
              <a:t>GROUP BY + Aggregates</a:t>
            </a:r>
            <a:endParaRPr lang="en-US" sz="900" dirty="0"/>
          </a:p>
        </p:txBody>
      </p:sp>
      <p:sp>
        <p:nvSpPr>
          <p:cNvPr id="8" name="Text 6"/>
          <p:cNvSpPr/>
          <p:nvPr/>
        </p:nvSpPr>
        <p:spPr>
          <a:xfrm>
            <a:off x="3566160" y="1033272"/>
            <a:ext cx="5029200" cy="36576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80-90 age group: 48.26% readmission — highest risk</a:t>
            </a:r>
            <a:endParaRPr lang="en-US" sz="1000" dirty="0"/>
          </a:p>
        </p:txBody>
      </p:sp>
      <p:sp>
        <p:nvSpPr>
          <p:cNvPr id="9" name="Shape 7"/>
          <p:cNvSpPr/>
          <p:nvPr/>
        </p:nvSpPr>
        <p:spPr>
          <a:xfrm>
            <a:off x="365760" y="1691640"/>
            <a:ext cx="8412480" cy="731520"/>
          </a:xfrm>
          <a:prstGeom prst="roundRect">
            <a:avLst>
              <a:gd name="adj" fmla="val 10000"/>
            </a:avLst>
          </a:prstGeom>
          <a:solidFill>
            <a:srgbClr val="1B2A3B"/>
          </a:solidFill>
          <a:ln/>
          <a:effectLst>
            <a:outerShdw blurRad="101600" dist="38100" dir="2700000" algn="bl" rotWithShape="0">
              <a:srgbClr val="000000">
                <a:alpha val="18000"/>
              </a:srgbClr>
            </a:outerShdw>
          </a:effectLst>
        </p:spPr>
      </p:sp>
      <p:sp>
        <p:nvSpPr>
          <p:cNvPr id="10" name="Shape 8"/>
          <p:cNvSpPr/>
          <p:nvPr/>
        </p:nvSpPr>
        <p:spPr>
          <a:xfrm>
            <a:off x="457200" y="1819656"/>
            <a:ext cx="384048" cy="384048"/>
          </a:xfrm>
          <a:prstGeom prst="roundRect">
            <a:avLst>
              <a:gd name="adj" fmla="val 14286"/>
            </a:avLst>
          </a:prstGeom>
          <a:solidFill>
            <a:srgbClr val="00B4A6"/>
          </a:solidFill>
          <a:ln/>
        </p:spPr>
      </p:sp>
      <p:sp>
        <p:nvSpPr>
          <p:cNvPr id="11" name="Text 9"/>
          <p:cNvSpPr/>
          <p:nvPr/>
        </p:nvSpPr>
        <p:spPr>
          <a:xfrm>
            <a:off x="457200" y="1819656"/>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Q2</a:t>
            </a:r>
            <a:endParaRPr lang="en-US" sz="1000" dirty="0"/>
          </a:p>
        </p:txBody>
      </p:sp>
      <p:sp>
        <p:nvSpPr>
          <p:cNvPr id="12" name="Text 10"/>
          <p:cNvSpPr/>
          <p:nvPr/>
        </p:nvSpPr>
        <p:spPr>
          <a:xfrm>
            <a:off x="960120" y="1764792"/>
            <a:ext cx="22860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Stay vs Readmission</a:t>
            </a:r>
            <a:endParaRPr lang="en-US" sz="1100" dirty="0"/>
          </a:p>
        </p:txBody>
      </p:sp>
      <p:sp>
        <p:nvSpPr>
          <p:cNvPr id="13" name="Text 11"/>
          <p:cNvSpPr/>
          <p:nvPr/>
        </p:nvSpPr>
        <p:spPr>
          <a:xfrm>
            <a:off x="960120" y="2039112"/>
            <a:ext cx="2560320" cy="228600"/>
          </a:xfrm>
          <a:prstGeom prst="rect">
            <a:avLst/>
          </a:prstGeom>
          <a:noFill/>
          <a:ln/>
        </p:spPr>
        <p:txBody>
          <a:bodyPr wrap="square" rtlCol="0" anchor="ctr"/>
          <a:lstStyle/>
          <a:p>
            <a:pPr marL="0" indent="0">
              <a:buNone/>
            </a:pPr>
            <a:r>
              <a:rPr lang="en-US" sz="900" dirty="0">
                <a:solidFill>
                  <a:srgbClr val="00B4A6"/>
                </a:solidFill>
                <a:latin typeface="Calibri" pitchFamily="34" charset="0"/>
                <a:ea typeface="Calibri" pitchFamily="34" charset="-122"/>
                <a:cs typeface="Calibri" pitchFamily="34" charset="-120"/>
              </a:rPr>
              <a:t>AVG() OVER() Window + ROWS BETWEEN</a:t>
            </a:r>
            <a:endParaRPr lang="en-US" sz="900" dirty="0"/>
          </a:p>
        </p:txBody>
      </p:sp>
      <p:sp>
        <p:nvSpPr>
          <p:cNvPr id="14" name="Text 12"/>
          <p:cNvSpPr/>
          <p:nvPr/>
        </p:nvSpPr>
        <p:spPr>
          <a:xfrm>
            <a:off x="3566160" y="1856232"/>
            <a:ext cx="5029200" cy="36576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Moving avg reveals rate crosses 50% from day 8 onwards</a:t>
            </a:r>
            <a:endParaRPr lang="en-US" sz="1000" dirty="0"/>
          </a:p>
        </p:txBody>
      </p:sp>
      <p:sp>
        <p:nvSpPr>
          <p:cNvPr id="15" name="Shape 13"/>
          <p:cNvSpPr/>
          <p:nvPr/>
        </p:nvSpPr>
        <p:spPr>
          <a:xfrm>
            <a:off x="365760" y="2514600"/>
            <a:ext cx="8412480" cy="731520"/>
          </a:xfrm>
          <a:prstGeom prst="roundRect">
            <a:avLst>
              <a:gd name="adj" fmla="val 10000"/>
            </a:avLst>
          </a:prstGeom>
          <a:solidFill>
            <a:srgbClr val="1B2A3B"/>
          </a:solidFill>
          <a:ln/>
          <a:effectLst>
            <a:outerShdw blurRad="101600" dist="38100" dir="2700000" algn="bl" rotWithShape="0">
              <a:srgbClr val="000000">
                <a:alpha val="18000"/>
              </a:srgbClr>
            </a:outerShdw>
          </a:effectLst>
        </p:spPr>
      </p:sp>
      <p:sp>
        <p:nvSpPr>
          <p:cNvPr id="16" name="Shape 14"/>
          <p:cNvSpPr/>
          <p:nvPr/>
        </p:nvSpPr>
        <p:spPr>
          <a:xfrm>
            <a:off x="457200" y="2642616"/>
            <a:ext cx="384048" cy="384048"/>
          </a:xfrm>
          <a:prstGeom prst="roundRect">
            <a:avLst>
              <a:gd name="adj" fmla="val 14286"/>
            </a:avLst>
          </a:prstGeom>
          <a:solidFill>
            <a:srgbClr val="00B4A6"/>
          </a:solidFill>
          <a:ln/>
        </p:spPr>
      </p:sp>
      <p:sp>
        <p:nvSpPr>
          <p:cNvPr id="17" name="Text 15"/>
          <p:cNvSpPr/>
          <p:nvPr/>
        </p:nvSpPr>
        <p:spPr>
          <a:xfrm>
            <a:off x="457200" y="2642616"/>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Q3</a:t>
            </a:r>
            <a:endParaRPr lang="en-US" sz="1000" dirty="0"/>
          </a:p>
        </p:txBody>
      </p:sp>
      <p:sp>
        <p:nvSpPr>
          <p:cNvPr id="18" name="Text 16"/>
          <p:cNvSpPr/>
          <p:nvPr/>
        </p:nvSpPr>
        <p:spPr>
          <a:xfrm>
            <a:off x="960120" y="2587752"/>
            <a:ext cx="22860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Top Risk per Race</a:t>
            </a:r>
            <a:endParaRPr lang="en-US" sz="1100" dirty="0"/>
          </a:p>
        </p:txBody>
      </p:sp>
      <p:sp>
        <p:nvSpPr>
          <p:cNvPr id="19" name="Text 17"/>
          <p:cNvSpPr/>
          <p:nvPr/>
        </p:nvSpPr>
        <p:spPr>
          <a:xfrm>
            <a:off x="960120" y="2862072"/>
            <a:ext cx="2560320" cy="228600"/>
          </a:xfrm>
          <a:prstGeom prst="rect">
            <a:avLst/>
          </a:prstGeom>
          <a:noFill/>
          <a:ln/>
        </p:spPr>
        <p:txBody>
          <a:bodyPr wrap="square" rtlCol="0" anchor="ctr"/>
          <a:lstStyle/>
          <a:p>
            <a:pPr marL="0" indent="0">
              <a:buNone/>
            </a:pPr>
            <a:r>
              <a:rPr lang="en-US" sz="900" dirty="0">
                <a:solidFill>
                  <a:srgbClr val="00B4A6"/>
                </a:solidFill>
                <a:latin typeface="Calibri" pitchFamily="34" charset="0"/>
                <a:ea typeface="Calibri" pitchFamily="34" charset="-122"/>
                <a:cs typeface="Calibri" pitchFamily="34" charset="-120"/>
              </a:rPr>
              <a:t>RANK() OVER (PARTITION BY) + Subquery</a:t>
            </a:r>
            <a:endParaRPr lang="en-US" sz="900" dirty="0"/>
          </a:p>
        </p:txBody>
      </p:sp>
      <p:sp>
        <p:nvSpPr>
          <p:cNvPr id="20" name="Text 18"/>
          <p:cNvSpPr/>
          <p:nvPr/>
        </p:nvSpPr>
        <p:spPr>
          <a:xfrm>
            <a:off x="3566160" y="2679192"/>
            <a:ext cx="5029200" cy="36576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Hispanic 90-100 highest at 52.63%; Caucasian 70-80 largest group</a:t>
            </a:r>
            <a:endParaRPr lang="en-US" sz="1000" dirty="0"/>
          </a:p>
        </p:txBody>
      </p:sp>
      <p:sp>
        <p:nvSpPr>
          <p:cNvPr id="21" name="Shape 19"/>
          <p:cNvSpPr/>
          <p:nvPr/>
        </p:nvSpPr>
        <p:spPr>
          <a:xfrm>
            <a:off x="365760" y="3337560"/>
            <a:ext cx="8412480" cy="731520"/>
          </a:xfrm>
          <a:prstGeom prst="roundRect">
            <a:avLst>
              <a:gd name="adj" fmla="val 10000"/>
            </a:avLst>
          </a:prstGeom>
          <a:solidFill>
            <a:srgbClr val="1B2A3B"/>
          </a:solidFill>
          <a:ln/>
          <a:effectLst>
            <a:outerShdw blurRad="101600" dist="38100" dir="2700000" algn="bl" rotWithShape="0">
              <a:srgbClr val="000000">
                <a:alpha val="18000"/>
              </a:srgbClr>
            </a:outerShdw>
          </a:effectLst>
        </p:spPr>
      </p:sp>
      <p:sp>
        <p:nvSpPr>
          <p:cNvPr id="22" name="Shape 20"/>
          <p:cNvSpPr/>
          <p:nvPr/>
        </p:nvSpPr>
        <p:spPr>
          <a:xfrm>
            <a:off x="457200" y="3465576"/>
            <a:ext cx="384048" cy="384048"/>
          </a:xfrm>
          <a:prstGeom prst="roundRect">
            <a:avLst>
              <a:gd name="adj" fmla="val 14286"/>
            </a:avLst>
          </a:prstGeom>
          <a:solidFill>
            <a:srgbClr val="00B4A6"/>
          </a:solidFill>
          <a:ln/>
        </p:spPr>
      </p:sp>
      <p:sp>
        <p:nvSpPr>
          <p:cNvPr id="23" name="Text 21"/>
          <p:cNvSpPr/>
          <p:nvPr/>
        </p:nvSpPr>
        <p:spPr>
          <a:xfrm>
            <a:off x="457200" y="3465576"/>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Q4</a:t>
            </a:r>
            <a:endParaRPr lang="en-US" sz="1000" dirty="0"/>
          </a:p>
        </p:txBody>
      </p:sp>
      <p:sp>
        <p:nvSpPr>
          <p:cNvPr id="24" name="Text 22"/>
          <p:cNvSpPr/>
          <p:nvPr/>
        </p:nvSpPr>
        <p:spPr>
          <a:xfrm>
            <a:off x="960120" y="3410712"/>
            <a:ext cx="22860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Risk Segmentation</a:t>
            </a:r>
            <a:endParaRPr lang="en-US" sz="1100" dirty="0"/>
          </a:p>
        </p:txBody>
      </p:sp>
      <p:sp>
        <p:nvSpPr>
          <p:cNvPr id="25" name="Text 23"/>
          <p:cNvSpPr/>
          <p:nvPr/>
        </p:nvSpPr>
        <p:spPr>
          <a:xfrm>
            <a:off x="960120" y="3685032"/>
            <a:ext cx="2560320" cy="228600"/>
          </a:xfrm>
          <a:prstGeom prst="rect">
            <a:avLst/>
          </a:prstGeom>
          <a:noFill/>
          <a:ln/>
        </p:spPr>
        <p:txBody>
          <a:bodyPr wrap="square" rtlCol="0" anchor="ctr"/>
          <a:lstStyle/>
          <a:p>
            <a:pPr marL="0" indent="0">
              <a:buNone/>
            </a:pPr>
            <a:r>
              <a:rPr lang="en-US" sz="900" dirty="0">
                <a:solidFill>
                  <a:srgbClr val="00B4A6"/>
                </a:solidFill>
                <a:latin typeface="Calibri" pitchFamily="34" charset="0"/>
                <a:ea typeface="Calibri" pitchFamily="34" charset="-122"/>
                <a:cs typeface="Calibri" pitchFamily="34" charset="-120"/>
              </a:rPr>
              <a:t>Chained CTEs + CASE WHEN</a:t>
            </a:r>
            <a:endParaRPr lang="en-US" sz="900" dirty="0"/>
          </a:p>
        </p:txBody>
      </p:sp>
      <p:sp>
        <p:nvSpPr>
          <p:cNvPr id="26" name="Text 24"/>
          <p:cNvSpPr/>
          <p:nvPr/>
        </p:nvSpPr>
        <p:spPr>
          <a:xfrm>
            <a:off x="3566160" y="3502152"/>
            <a:ext cx="5029200" cy="36576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Very High Risk: 68.58% vs Normal: 39.93% — 29% gap</a:t>
            </a:r>
            <a:endParaRPr lang="en-US" sz="1000" dirty="0"/>
          </a:p>
        </p:txBody>
      </p:sp>
      <p:sp>
        <p:nvSpPr>
          <p:cNvPr id="27" name="Shape 25"/>
          <p:cNvSpPr/>
          <p:nvPr/>
        </p:nvSpPr>
        <p:spPr>
          <a:xfrm>
            <a:off x="365760" y="4160520"/>
            <a:ext cx="8412480" cy="731520"/>
          </a:xfrm>
          <a:prstGeom prst="roundRect">
            <a:avLst>
              <a:gd name="adj" fmla="val 10000"/>
            </a:avLst>
          </a:prstGeom>
          <a:solidFill>
            <a:srgbClr val="1B2A3B"/>
          </a:solidFill>
          <a:ln/>
          <a:effectLst>
            <a:outerShdw blurRad="101600" dist="38100" dir="2700000" algn="bl" rotWithShape="0">
              <a:srgbClr val="000000">
                <a:alpha val="18000"/>
              </a:srgbClr>
            </a:outerShdw>
          </a:effectLst>
        </p:spPr>
      </p:sp>
      <p:sp>
        <p:nvSpPr>
          <p:cNvPr id="28" name="Shape 26"/>
          <p:cNvSpPr/>
          <p:nvPr/>
        </p:nvSpPr>
        <p:spPr>
          <a:xfrm>
            <a:off x="457200" y="4288536"/>
            <a:ext cx="384048" cy="384048"/>
          </a:xfrm>
          <a:prstGeom prst="roundRect">
            <a:avLst>
              <a:gd name="adj" fmla="val 14286"/>
            </a:avLst>
          </a:prstGeom>
          <a:solidFill>
            <a:srgbClr val="00B4A6"/>
          </a:solidFill>
          <a:ln/>
        </p:spPr>
      </p:sp>
      <p:sp>
        <p:nvSpPr>
          <p:cNvPr id="29" name="Text 27"/>
          <p:cNvSpPr/>
          <p:nvPr/>
        </p:nvSpPr>
        <p:spPr>
          <a:xfrm>
            <a:off x="457200" y="4288536"/>
            <a:ext cx="384048" cy="384048"/>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Q5</a:t>
            </a:r>
            <a:endParaRPr lang="en-US" sz="1000" dirty="0"/>
          </a:p>
        </p:txBody>
      </p:sp>
      <p:sp>
        <p:nvSpPr>
          <p:cNvPr id="30" name="Text 28"/>
          <p:cNvSpPr/>
          <p:nvPr/>
        </p:nvSpPr>
        <p:spPr>
          <a:xfrm>
            <a:off x="960120" y="4233672"/>
            <a:ext cx="22860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Cumulative Trend</a:t>
            </a:r>
            <a:endParaRPr lang="en-US" sz="1100" dirty="0"/>
          </a:p>
        </p:txBody>
      </p:sp>
      <p:sp>
        <p:nvSpPr>
          <p:cNvPr id="31" name="Text 29"/>
          <p:cNvSpPr/>
          <p:nvPr/>
        </p:nvSpPr>
        <p:spPr>
          <a:xfrm>
            <a:off x="960120" y="4507992"/>
            <a:ext cx="2560320" cy="228600"/>
          </a:xfrm>
          <a:prstGeom prst="rect">
            <a:avLst/>
          </a:prstGeom>
          <a:noFill/>
          <a:ln/>
        </p:spPr>
        <p:txBody>
          <a:bodyPr wrap="square" rtlCol="0" anchor="ctr"/>
          <a:lstStyle/>
          <a:p>
            <a:pPr marL="0" indent="0">
              <a:buNone/>
            </a:pPr>
            <a:r>
              <a:rPr lang="en-US" sz="900" dirty="0">
                <a:solidFill>
                  <a:srgbClr val="00B4A6"/>
                </a:solidFill>
                <a:latin typeface="Calibri" pitchFamily="34" charset="0"/>
                <a:ea typeface="Calibri" pitchFamily="34" charset="-122"/>
                <a:cs typeface="Calibri" pitchFamily="34" charset="-120"/>
              </a:rPr>
              <a:t>SUM() OVER() Running Total</a:t>
            </a:r>
            <a:endParaRPr lang="en-US" sz="900" dirty="0"/>
          </a:p>
        </p:txBody>
      </p:sp>
      <p:sp>
        <p:nvSpPr>
          <p:cNvPr id="32" name="Text 30"/>
          <p:cNvSpPr/>
          <p:nvPr/>
        </p:nvSpPr>
        <p:spPr>
          <a:xfrm>
            <a:off x="3566160" y="4325112"/>
            <a:ext cx="5029200" cy="36576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  Top 3 age groups (60-90) account for 65% of all readmissions</a:t>
            </a:r>
            <a:endParaRPr lang="en-US" sz="1000" dirty="0"/>
          </a:p>
        </p:txBody>
      </p:sp>
      <p:sp>
        <p:nvSpPr>
          <p:cNvPr id="33" name="Shape 31"/>
          <p:cNvSpPr/>
          <p:nvPr/>
        </p:nvSpPr>
        <p:spPr>
          <a:xfrm>
            <a:off x="365760" y="4663440"/>
            <a:ext cx="8412480" cy="320040"/>
          </a:xfrm>
          <a:prstGeom prst="roundRect">
            <a:avLst>
              <a:gd name="adj" fmla="val 20000"/>
            </a:avLst>
          </a:prstGeom>
          <a:solidFill>
            <a:srgbClr val="1E3A4A"/>
          </a:solidFill>
          <a:ln/>
        </p:spPr>
      </p:sp>
      <p:sp>
        <p:nvSpPr>
          <p:cNvPr id="34" name="Text 32"/>
          <p:cNvSpPr/>
          <p:nvPr/>
        </p:nvSpPr>
        <p:spPr>
          <a:xfrm>
            <a:off x="457200" y="4681728"/>
            <a:ext cx="8229600" cy="274320"/>
          </a:xfrm>
          <a:prstGeom prst="rect">
            <a:avLst/>
          </a:prstGeom>
          <a:noFill/>
          <a:ln/>
        </p:spPr>
        <p:txBody>
          <a:bodyPr wrap="square" rtlCol="0" anchor="ctr"/>
          <a:lstStyle/>
          <a:p>
            <a:pPr marL="0" indent="0" algn="ctr">
              <a:buNone/>
            </a:pPr>
            <a:r>
              <a:rPr lang="en-US" sz="1000" dirty="0">
                <a:solidFill>
                  <a:srgbClr val="00B4A6"/>
                </a:solidFill>
                <a:latin typeface="Calibri" pitchFamily="34" charset="0"/>
                <a:ea typeface="Calibri" pitchFamily="34" charset="-122"/>
                <a:cs typeface="Calibri" pitchFamily="34" charset="-120"/>
              </a:rPr>
              <a:t>Advanced SQL: CTEs  ·  Window Functions  ·  RANK() PARTITION BY  ·  Subqueries  ·  CASE WHEN  ·  Running Totals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Risk Segmentation Results (CTE Analysis)</a:t>
            </a:r>
            <a:endParaRPr lang="en-US" sz="2800" dirty="0"/>
          </a:p>
        </p:txBody>
      </p:sp>
      <p:sp>
        <p:nvSpPr>
          <p:cNvPr id="3" name="Shape 1"/>
          <p:cNvSpPr/>
          <p:nvPr/>
        </p:nvSpPr>
        <p:spPr>
          <a:xfrm>
            <a:off x="365760" y="822960"/>
            <a:ext cx="2651760" cy="1463040"/>
          </a:xfrm>
          <a:prstGeom prst="roundRect">
            <a:avLst>
              <a:gd name="adj" fmla="val 6250"/>
            </a:avLst>
          </a:prstGeom>
          <a:solidFill>
            <a:srgbClr val="1B2A3B"/>
          </a:solidFill>
          <a:ln/>
          <a:effectLst>
            <a:outerShdw blurRad="101600" dist="38100" dir="2700000" algn="bl" rotWithShape="0">
              <a:srgbClr val="000000">
                <a:alpha val="18000"/>
              </a:srgbClr>
            </a:outerShdw>
          </a:effectLst>
        </p:spPr>
      </p:sp>
      <p:sp>
        <p:nvSpPr>
          <p:cNvPr id="4" name="Text 2"/>
          <p:cNvSpPr/>
          <p:nvPr/>
        </p:nvSpPr>
        <p:spPr>
          <a:xfrm>
            <a:off x="365760" y="896112"/>
            <a:ext cx="2651760" cy="274320"/>
          </a:xfrm>
          <a:prstGeom prst="rect">
            <a:avLst/>
          </a:prstGeom>
          <a:noFill/>
          <a:ln/>
        </p:spPr>
        <p:txBody>
          <a:bodyPr wrap="square" rtlCol="0" anchor="ctr"/>
          <a:lstStyle/>
          <a:p>
            <a:pPr marL="0" indent="0" algn="ctr">
              <a:buNone/>
            </a:pPr>
            <a:r>
              <a:rPr lang="en-US" sz="1100" b="1" dirty="0">
                <a:solidFill>
                  <a:srgbClr val="E05C5C"/>
                </a:solidFill>
                <a:latin typeface="Calibri" pitchFamily="34" charset="0"/>
                <a:ea typeface="Calibri" pitchFamily="34" charset="-122"/>
                <a:cs typeface="Calibri" pitchFamily="34" charset="-120"/>
              </a:rPr>
              <a:t>🔴 Very High Risk</a:t>
            </a:r>
            <a:endParaRPr lang="en-US" sz="1100" dirty="0"/>
          </a:p>
        </p:txBody>
      </p:sp>
      <p:sp>
        <p:nvSpPr>
          <p:cNvPr id="5" name="Text 3"/>
          <p:cNvSpPr/>
          <p:nvPr/>
        </p:nvSpPr>
        <p:spPr>
          <a:xfrm>
            <a:off x="365760" y="1170432"/>
            <a:ext cx="2651760" cy="502920"/>
          </a:xfrm>
          <a:prstGeom prst="rect">
            <a:avLst/>
          </a:prstGeom>
          <a:noFill/>
          <a:ln/>
        </p:spPr>
        <p:txBody>
          <a:bodyPr wrap="square" rtlCol="0" anchor="ctr"/>
          <a:lstStyle/>
          <a:p>
            <a:pPr marL="0" indent="0" algn="ctr">
              <a:buNone/>
            </a:pPr>
            <a:r>
              <a:rPr lang="en-US" sz="2800" b="1" dirty="0">
                <a:solidFill>
                  <a:srgbClr val="E05C5C"/>
                </a:solidFill>
                <a:latin typeface="Calibri" pitchFamily="34" charset="0"/>
                <a:ea typeface="Calibri" pitchFamily="34" charset="-122"/>
                <a:cs typeface="Calibri" pitchFamily="34" charset="-120"/>
              </a:rPr>
              <a:t>68.58%</a:t>
            </a:r>
            <a:endParaRPr lang="en-US" sz="2800" dirty="0"/>
          </a:p>
        </p:txBody>
      </p:sp>
      <p:sp>
        <p:nvSpPr>
          <p:cNvPr id="6" name="Text 4"/>
          <p:cNvSpPr/>
          <p:nvPr/>
        </p:nvSpPr>
        <p:spPr>
          <a:xfrm>
            <a:off x="365760" y="1664208"/>
            <a:ext cx="2651760" cy="228600"/>
          </a:xfrm>
          <a:prstGeom prst="rect">
            <a:avLst/>
          </a:prstGeom>
          <a:noFill/>
          <a:ln/>
        </p:spPr>
        <p:txBody>
          <a:bodyPr wrap="square" rtlCol="0" anchor="ctr"/>
          <a:lstStyle/>
          <a:p>
            <a:pPr marL="0" indent="0" algn="ctr">
              <a:buNone/>
            </a:pPr>
            <a:r>
              <a:rPr lang="en-US" sz="900" dirty="0">
                <a:solidFill>
                  <a:srgbClr val="B0BEC5"/>
                </a:solidFill>
                <a:latin typeface="Calibri" pitchFamily="34" charset="0"/>
                <a:ea typeface="Calibri" pitchFamily="34" charset="-122"/>
                <a:cs typeface="Calibri" pitchFamily="34" charset="-120"/>
              </a:rPr>
              <a:t>Readmission Rate  |  3,087 patients</a:t>
            </a:r>
            <a:endParaRPr lang="en-US" sz="900" dirty="0"/>
          </a:p>
        </p:txBody>
      </p:sp>
      <p:sp>
        <p:nvSpPr>
          <p:cNvPr id="7" name="Shape 5"/>
          <p:cNvSpPr/>
          <p:nvPr/>
        </p:nvSpPr>
        <p:spPr>
          <a:xfrm>
            <a:off x="3246120" y="822960"/>
            <a:ext cx="2651760" cy="1463040"/>
          </a:xfrm>
          <a:prstGeom prst="roundRect">
            <a:avLst>
              <a:gd name="adj" fmla="val 6250"/>
            </a:avLst>
          </a:prstGeom>
          <a:solidFill>
            <a:srgbClr val="1B2A3B"/>
          </a:solidFill>
          <a:ln/>
          <a:effectLst>
            <a:outerShdw blurRad="101600" dist="38100" dir="2700000" algn="bl" rotWithShape="0">
              <a:srgbClr val="000000">
                <a:alpha val="18000"/>
              </a:srgbClr>
            </a:outerShdw>
          </a:effectLst>
        </p:spPr>
      </p:sp>
      <p:sp>
        <p:nvSpPr>
          <p:cNvPr id="8" name="Text 6"/>
          <p:cNvSpPr/>
          <p:nvPr/>
        </p:nvSpPr>
        <p:spPr>
          <a:xfrm>
            <a:off x="3246120" y="896112"/>
            <a:ext cx="2651760" cy="274320"/>
          </a:xfrm>
          <a:prstGeom prst="rect">
            <a:avLst/>
          </a:prstGeom>
          <a:noFill/>
          <a:ln/>
        </p:spPr>
        <p:txBody>
          <a:bodyPr wrap="square" rtlCol="0" anchor="ctr"/>
          <a:lstStyle/>
          <a:p>
            <a:pPr marL="0" indent="0" algn="ctr">
              <a:buNone/>
            </a:pPr>
            <a:r>
              <a:rPr lang="en-US" sz="1100" b="1" dirty="0">
                <a:solidFill>
                  <a:srgbClr val="F5A623"/>
                </a:solidFill>
                <a:latin typeface="Calibri" pitchFamily="34" charset="0"/>
                <a:ea typeface="Calibri" pitchFamily="34" charset="-122"/>
                <a:cs typeface="Calibri" pitchFamily="34" charset="-120"/>
              </a:rPr>
              <a:t>🟠 High Risk</a:t>
            </a:r>
            <a:endParaRPr lang="en-US" sz="1100" dirty="0"/>
          </a:p>
        </p:txBody>
      </p:sp>
      <p:sp>
        <p:nvSpPr>
          <p:cNvPr id="9" name="Text 7"/>
          <p:cNvSpPr/>
          <p:nvPr/>
        </p:nvSpPr>
        <p:spPr>
          <a:xfrm>
            <a:off x="3246120" y="1170432"/>
            <a:ext cx="2651760" cy="5029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61.33%</a:t>
            </a:r>
            <a:endParaRPr lang="en-US" sz="2800" dirty="0"/>
          </a:p>
        </p:txBody>
      </p:sp>
      <p:sp>
        <p:nvSpPr>
          <p:cNvPr id="10" name="Text 8"/>
          <p:cNvSpPr/>
          <p:nvPr/>
        </p:nvSpPr>
        <p:spPr>
          <a:xfrm>
            <a:off x="3246120" y="1664208"/>
            <a:ext cx="2651760" cy="228600"/>
          </a:xfrm>
          <a:prstGeom prst="rect">
            <a:avLst/>
          </a:prstGeom>
          <a:noFill/>
          <a:ln/>
        </p:spPr>
        <p:txBody>
          <a:bodyPr wrap="square" rtlCol="0" anchor="ctr"/>
          <a:lstStyle/>
          <a:p>
            <a:pPr marL="0" indent="0" algn="ctr">
              <a:buNone/>
            </a:pPr>
            <a:r>
              <a:rPr lang="en-US" sz="900" dirty="0">
                <a:solidFill>
                  <a:srgbClr val="B0BEC5"/>
                </a:solidFill>
                <a:latin typeface="Calibri" pitchFamily="34" charset="0"/>
                <a:ea typeface="Calibri" pitchFamily="34" charset="-122"/>
                <a:cs typeface="Calibri" pitchFamily="34" charset="-120"/>
              </a:rPr>
              <a:t>Readmission Rate  |  25,767 patients</a:t>
            </a:r>
            <a:endParaRPr lang="en-US" sz="900" dirty="0"/>
          </a:p>
        </p:txBody>
      </p:sp>
      <p:sp>
        <p:nvSpPr>
          <p:cNvPr id="11" name="Shape 9"/>
          <p:cNvSpPr/>
          <p:nvPr/>
        </p:nvSpPr>
        <p:spPr>
          <a:xfrm>
            <a:off x="6126480" y="822960"/>
            <a:ext cx="2651760" cy="1463040"/>
          </a:xfrm>
          <a:prstGeom prst="roundRect">
            <a:avLst>
              <a:gd name="adj" fmla="val 6250"/>
            </a:avLst>
          </a:prstGeom>
          <a:solidFill>
            <a:srgbClr val="1B2A3B"/>
          </a:solidFill>
          <a:ln/>
          <a:effectLst>
            <a:outerShdw blurRad="101600" dist="38100" dir="2700000" algn="bl" rotWithShape="0">
              <a:srgbClr val="000000">
                <a:alpha val="18000"/>
              </a:srgbClr>
            </a:outerShdw>
          </a:effectLst>
        </p:spPr>
      </p:sp>
      <p:sp>
        <p:nvSpPr>
          <p:cNvPr id="12" name="Text 10"/>
          <p:cNvSpPr/>
          <p:nvPr/>
        </p:nvSpPr>
        <p:spPr>
          <a:xfrm>
            <a:off x="6126480" y="896112"/>
            <a:ext cx="2651760" cy="274320"/>
          </a:xfrm>
          <a:prstGeom prst="rect">
            <a:avLst/>
          </a:prstGeom>
          <a:noFill/>
          <a:ln/>
        </p:spPr>
        <p:txBody>
          <a:bodyPr wrap="square" rtlCol="0" anchor="ctr"/>
          <a:lstStyle/>
          <a:p>
            <a:pPr marL="0" indent="0" algn="ctr">
              <a:buNone/>
            </a:pPr>
            <a:r>
              <a:rPr lang="en-US" sz="1100" b="1" dirty="0">
                <a:solidFill>
                  <a:srgbClr val="4CAF8C"/>
                </a:solidFill>
                <a:latin typeface="Calibri" pitchFamily="34" charset="0"/>
                <a:ea typeface="Calibri" pitchFamily="34" charset="-122"/>
                <a:cs typeface="Calibri" pitchFamily="34" charset="-120"/>
              </a:rPr>
              <a:t>🟢 Normal</a:t>
            </a:r>
            <a:endParaRPr lang="en-US" sz="1100" dirty="0"/>
          </a:p>
        </p:txBody>
      </p:sp>
      <p:sp>
        <p:nvSpPr>
          <p:cNvPr id="13" name="Text 11"/>
          <p:cNvSpPr/>
          <p:nvPr/>
        </p:nvSpPr>
        <p:spPr>
          <a:xfrm>
            <a:off x="6126480" y="1170432"/>
            <a:ext cx="2651760" cy="502920"/>
          </a:xfrm>
          <a:prstGeom prst="rect">
            <a:avLst/>
          </a:prstGeom>
          <a:noFill/>
          <a:ln/>
        </p:spPr>
        <p:txBody>
          <a:bodyPr wrap="square" rtlCol="0" anchor="ctr"/>
          <a:lstStyle/>
          <a:p>
            <a:pPr marL="0" indent="0" algn="ctr">
              <a:buNone/>
            </a:pPr>
            <a:r>
              <a:rPr lang="en-US" sz="2800" b="1" dirty="0">
                <a:solidFill>
                  <a:srgbClr val="4CAF8C"/>
                </a:solidFill>
                <a:latin typeface="Calibri" pitchFamily="34" charset="0"/>
                <a:ea typeface="Calibri" pitchFamily="34" charset="-122"/>
                <a:cs typeface="Calibri" pitchFamily="34" charset="-120"/>
              </a:rPr>
              <a:t>39.93%</a:t>
            </a:r>
            <a:endParaRPr lang="en-US" sz="2800" dirty="0"/>
          </a:p>
        </p:txBody>
      </p:sp>
      <p:sp>
        <p:nvSpPr>
          <p:cNvPr id="14" name="Text 12"/>
          <p:cNvSpPr/>
          <p:nvPr/>
        </p:nvSpPr>
        <p:spPr>
          <a:xfrm>
            <a:off x="6126480" y="1664208"/>
            <a:ext cx="2651760" cy="228600"/>
          </a:xfrm>
          <a:prstGeom prst="rect">
            <a:avLst/>
          </a:prstGeom>
          <a:noFill/>
          <a:ln/>
        </p:spPr>
        <p:txBody>
          <a:bodyPr wrap="square" rtlCol="0" anchor="ctr"/>
          <a:lstStyle/>
          <a:p>
            <a:pPr marL="0" indent="0" algn="ctr">
              <a:buNone/>
            </a:pPr>
            <a:r>
              <a:rPr lang="en-US" sz="900" dirty="0">
                <a:solidFill>
                  <a:srgbClr val="B0BEC5"/>
                </a:solidFill>
                <a:latin typeface="Calibri" pitchFamily="34" charset="0"/>
                <a:ea typeface="Calibri" pitchFamily="34" charset="-122"/>
                <a:cs typeface="Calibri" pitchFamily="34" charset="-120"/>
              </a:rPr>
              <a:t>Readmission Rate  |  71,387 patients</a:t>
            </a:r>
            <a:endParaRPr lang="en-US" sz="900" dirty="0"/>
          </a:p>
        </p:txBody>
      </p:sp>
      <p:graphicFrame>
        <p:nvGraphicFramePr>
          <p:cNvPr id="15" name="Chart 0"/>
          <p:cNvGraphicFramePr/>
          <p:nvPr/>
        </p:nvGraphicFramePr>
        <p:xfrm>
          <a:off x="365760" y="2423160"/>
          <a:ext cx="512064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3"/>
          <p:cNvSpPr/>
          <p:nvPr/>
        </p:nvSpPr>
        <p:spPr>
          <a:xfrm>
            <a:off x="5669280" y="2423160"/>
            <a:ext cx="3108960" cy="2514600"/>
          </a:xfrm>
          <a:prstGeom prst="roundRect">
            <a:avLst>
              <a:gd name="adj" fmla="val 3636"/>
            </a:avLst>
          </a:prstGeom>
          <a:solidFill>
            <a:srgbClr val="1B2A3B"/>
          </a:solidFill>
          <a:ln/>
          <a:effectLst>
            <a:outerShdw blurRad="101600" dist="38100" dir="2700000" algn="bl" rotWithShape="0">
              <a:srgbClr val="000000">
                <a:alpha val="18000"/>
              </a:srgbClr>
            </a:outerShdw>
          </a:effectLst>
        </p:spPr>
      </p:sp>
      <p:sp>
        <p:nvSpPr>
          <p:cNvPr id="17" name="Text 14"/>
          <p:cNvSpPr/>
          <p:nvPr/>
        </p:nvSpPr>
        <p:spPr>
          <a:xfrm>
            <a:off x="5806440" y="2514600"/>
            <a:ext cx="2834640" cy="274320"/>
          </a:xfrm>
          <a:prstGeom prst="rect">
            <a:avLst/>
          </a:prstGeom>
          <a:noFill/>
          <a:ln/>
        </p:spPr>
        <p:txBody>
          <a:bodyPr wrap="square" rtlCol="0" anchor="ctr"/>
          <a:lstStyle/>
          <a:p>
            <a:pPr marL="0" indent="0">
              <a:buNone/>
            </a:pPr>
            <a:r>
              <a:rPr lang="en-US" sz="1100" b="1" dirty="0">
                <a:solidFill>
                  <a:srgbClr val="00B4A6"/>
                </a:solidFill>
                <a:latin typeface="Calibri" pitchFamily="34" charset="0"/>
                <a:ea typeface="Calibri" pitchFamily="34" charset="-122"/>
                <a:cs typeface="Calibri" pitchFamily="34" charset="-120"/>
              </a:rPr>
              <a:t>Risk Criteria (CASE WHEN)</a:t>
            </a:r>
            <a:endParaRPr lang="en-US" sz="1100" dirty="0"/>
          </a:p>
        </p:txBody>
      </p:sp>
      <p:sp>
        <p:nvSpPr>
          <p:cNvPr id="18" name="Text 15"/>
          <p:cNvSpPr/>
          <p:nvPr/>
        </p:nvSpPr>
        <p:spPr>
          <a:xfrm>
            <a:off x="5806440" y="2880360"/>
            <a:ext cx="2834640" cy="2286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Very High Risk:</a:t>
            </a:r>
            <a:endParaRPr lang="en-US" sz="1000" dirty="0"/>
          </a:p>
        </p:txBody>
      </p:sp>
      <p:sp>
        <p:nvSpPr>
          <p:cNvPr id="19" name="Text 16"/>
          <p:cNvSpPr/>
          <p:nvPr/>
        </p:nvSpPr>
        <p:spPr>
          <a:xfrm>
            <a:off x="5806440" y="3090672"/>
            <a:ext cx="2834640" cy="274320"/>
          </a:xfrm>
          <a:prstGeom prst="rect">
            <a:avLst/>
          </a:prstGeom>
          <a:noFill/>
          <a:ln/>
        </p:spPr>
        <p:txBody>
          <a:bodyPr wrap="square" rtlCol="0" anchor="ctr"/>
          <a:lstStyle/>
          <a:p>
            <a:pPr marL="0" indent="0">
              <a:buNone/>
            </a:pPr>
            <a:r>
              <a:rPr lang="en-US" sz="900" dirty="0">
                <a:solidFill>
                  <a:srgbClr val="B0BEC5"/>
                </a:solidFill>
                <a:latin typeface="Calibri" pitchFamily="34" charset="0"/>
                <a:ea typeface="Calibri" pitchFamily="34" charset="-122"/>
                <a:cs typeface="Calibri" pitchFamily="34" charset="-120"/>
              </a:rPr>
              <a:t>Inpatient ≥2 AND Meds ≥15 AND Stay ≥7 days</a:t>
            </a:r>
            <a:endParaRPr lang="en-US" sz="900" dirty="0"/>
          </a:p>
        </p:txBody>
      </p:sp>
      <p:sp>
        <p:nvSpPr>
          <p:cNvPr id="20" name="Text 17"/>
          <p:cNvSpPr/>
          <p:nvPr/>
        </p:nvSpPr>
        <p:spPr>
          <a:xfrm>
            <a:off x="5806440" y="3474720"/>
            <a:ext cx="2834640" cy="2286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High Risk:</a:t>
            </a:r>
            <a:endParaRPr lang="en-US" sz="1000" dirty="0"/>
          </a:p>
        </p:txBody>
      </p:sp>
      <p:sp>
        <p:nvSpPr>
          <p:cNvPr id="21" name="Text 18"/>
          <p:cNvSpPr/>
          <p:nvPr/>
        </p:nvSpPr>
        <p:spPr>
          <a:xfrm>
            <a:off x="5806440" y="3685032"/>
            <a:ext cx="2834640" cy="274320"/>
          </a:xfrm>
          <a:prstGeom prst="rect">
            <a:avLst/>
          </a:prstGeom>
          <a:noFill/>
          <a:ln/>
        </p:spPr>
        <p:txBody>
          <a:bodyPr wrap="square" rtlCol="0" anchor="ctr"/>
          <a:lstStyle/>
          <a:p>
            <a:pPr marL="0" indent="0">
              <a:buNone/>
            </a:pPr>
            <a:r>
              <a:rPr lang="en-US" sz="900" dirty="0">
                <a:solidFill>
                  <a:srgbClr val="B0BEC5"/>
                </a:solidFill>
                <a:latin typeface="Calibri" pitchFamily="34" charset="0"/>
                <a:ea typeface="Calibri" pitchFamily="34" charset="-122"/>
                <a:cs typeface="Calibri" pitchFamily="34" charset="-120"/>
              </a:rPr>
              <a:t>Inpatient ≥1 AND Meds ≥10</a:t>
            </a:r>
            <a:endParaRPr lang="en-US" sz="900" dirty="0"/>
          </a:p>
        </p:txBody>
      </p:sp>
      <p:sp>
        <p:nvSpPr>
          <p:cNvPr id="22" name="Text 19"/>
          <p:cNvSpPr/>
          <p:nvPr/>
        </p:nvSpPr>
        <p:spPr>
          <a:xfrm>
            <a:off x="5806440" y="4069080"/>
            <a:ext cx="2834640" cy="2286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Normal:</a:t>
            </a:r>
            <a:endParaRPr lang="en-US" sz="1000" dirty="0"/>
          </a:p>
        </p:txBody>
      </p:sp>
      <p:sp>
        <p:nvSpPr>
          <p:cNvPr id="23" name="Text 20"/>
          <p:cNvSpPr/>
          <p:nvPr/>
        </p:nvSpPr>
        <p:spPr>
          <a:xfrm>
            <a:off x="5806440" y="4279392"/>
            <a:ext cx="2834640" cy="274320"/>
          </a:xfrm>
          <a:prstGeom prst="rect">
            <a:avLst/>
          </a:prstGeom>
          <a:noFill/>
          <a:ln/>
        </p:spPr>
        <p:txBody>
          <a:bodyPr wrap="square" rtlCol="0" anchor="ctr"/>
          <a:lstStyle/>
          <a:p>
            <a:pPr marL="0" indent="0">
              <a:buNone/>
            </a:pPr>
            <a:r>
              <a:rPr lang="en-US" sz="900" dirty="0">
                <a:solidFill>
                  <a:srgbClr val="B0BEC5"/>
                </a:solidFill>
                <a:latin typeface="Calibri" pitchFamily="34" charset="0"/>
                <a:ea typeface="Calibri" pitchFamily="34" charset="-122"/>
                <a:cs typeface="Calibri" pitchFamily="34" charset="-120"/>
              </a:rPr>
              <a:t>All other patients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Phase 4 — Power BI Dashboard (3 Pages)</a:t>
            </a:r>
            <a:endParaRPr lang="en-US" sz="2800" dirty="0"/>
          </a:p>
        </p:txBody>
      </p:sp>
      <p:sp>
        <p:nvSpPr>
          <p:cNvPr id="3" name="Shape 1"/>
          <p:cNvSpPr/>
          <p:nvPr/>
        </p:nvSpPr>
        <p:spPr>
          <a:xfrm>
            <a:off x="365760" y="822960"/>
            <a:ext cx="2651760" cy="4114800"/>
          </a:xfrm>
          <a:prstGeom prst="roundRect">
            <a:avLst>
              <a:gd name="adj" fmla="val 3448"/>
            </a:avLst>
          </a:prstGeom>
          <a:solidFill>
            <a:srgbClr val="1B2A3B"/>
          </a:solidFill>
          <a:ln/>
          <a:effectLst>
            <a:outerShdw blurRad="101600" dist="38100" dir="2700000" algn="bl" rotWithShape="0">
              <a:srgbClr val="000000">
                <a:alpha val="18000"/>
              </a:srgbClr>
            </a:outerShdw>
          </a:effectLst>
        </p:spPr>
      </p:sp>
      <p:sp>
        <p:nvSpPr>
          <p:cNvPr id="4" name="Shape 2"/>
          <p:cNvSpPr/>
          <p:nvPr/>
        </p:nvSpPr>
        <p:spPr>
          <a:xfrm>
            <a:off x="1417320" y="914400"/>
            <a:ext cx="548640" cy="548640"/>
          </a:xfrm>
          <a:prstGeom prst="ellipse">
            <a:avLst/>
          </a:prstGeom>
          <a:solidFill>
            <a:srgbClr val="00B4A6"/>
          </a:solidFill>
          <a:ln/>
        </p:spPr>
      </p:sp>
      <p:sp>
        <p:nvSpPr>
          <p:cNvPr id="5" name="Text 3"/>
          <p:cNvSpPr/>
          <p:nvPr/>
        </p:nvSpPr>
        <p:spPr>
          <a:xfrm>
            <a:off x="1417320" y="914400"/>
            <a:ext cx="548640" cy="54864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457200" y="1536192"/>
            <a:ext cx="2468880" cy="365760"/>
          </a:xfrm>
          <a:prstGeom prst="rect">
            <a:avLst/>
          </a:prstGeom>
          <a:noFill/>
          <a:ln/>
        </p:spPr>
        <p:txBody>
          <a:bodyPr wrap="square" rtlCol="0" anchor="ctr"/>
          <a:lstStyle/>
          <a:p>
            <a:pPr marL="0" indent="0" algn="ctr">
              <a:buNone/>
            </a:pPr>
            <a:r>
              <a:rPr lang="en-US" sz="1100" b="1" dirty="0">
                <a:solidFill>
                  <a:srgbClr val="00B4A6"/>
                </a:solidFill>
                <a:latin typeface="Calibri" pitchFamily="34" charset="0"/>
                <a:ea typeface="Calibri" pitchFamily="34" charset="-122"/>
                <a:cs typeface="Calibri" pitchFamily="34" charset="-120"/>
              </a:rPr>
              <a:t>Page 1: Executive Overview</a:t>
            </a:r>
            <a:endParaRPr lang="en-US" sz="1100" dirty="0"/>
          </a:p>
        </p:txBody>
      </p:sp>
      <p:sp>
        <p:nvSpPr>
          <p:cNvPr id="7" name="Shape 5"/>
          <p:cNvSpPr/>
          <p:nvPr/>
        </p:nvSpPr>
        <p:spPr>
          <a:xfrm>
            <a:off x="530352" y="2029968"/>
            <a:ext cx="164592" cy="164592"/>
          </a:xfrm>
          <a:prstGeom prst="ellipse">
            <a:avLst/>
          </a:prstGeom>
          <a:solidFill>
            <a:srgbClr val="00B4A6"/>
          </a:solidFill>
          <a:ln/>
        </p:spPr>
      </p:sp>
      <p:sp>
        <p:nvSpPr>
          <p:cNvPr id="8" name="Text 6"/>
          <p:cNvSpPr/>
          <p:nvPr/>
        </p:nvSpPr>
        <p:spPr>
          <a:xfrm>
            <a:off x="749808" y="19659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3 KPI Cards: Total Patients · Avg Stay · Readmission %</a:t>
            </a:r>
            <a:endParaRPr lang="en-US" sz="1000" dirty="0"/>
          </a:p>
        </p:txBody>
      </p:sp>
      <p:sp>
        <p:nvSpPr>
          <p:cNvPr id="9" name="Shape 7"/>
          <p:cNvSpPr/>
          <p:nvPr/>
        </p:nvSpPr>
        <p:spPr>
          <a:xfrm>
            <a:off x="530352" y="2715768"/>
            <a:ext cx="164592" cy="164592"/>
          </a:xfrm>
          <a:prstGeom prst="ellipse">
            <a:avLst/>
          </a:prstGeom>
          <a:solidFill>
            <a:srgbClr val="00B4A6"/>
          </a:solidFill>
          <a:ln/>
        </p:spPr>
      </p:sp>
      <p:sp>
        <p:nvSpPr>
          <p:cNvPr id="10" name="Text 8"/>
          <p:cNvSpPr/>
          <p:nvPr/>
        </p:nvSpPr>
        <p:spPr>
          <a:xfrm>
            <a:off x="749808" y="26517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Donut Chart: Patient Risk Category Split</a:t>
            </a:r>
            <a:endParaRPr lang="en-US" sz="1000" dirty="0"/>
          </a:p>
        </p:txBody>
      </p:sp>
      <p:sp>
        <p:nvSpPr>
          <p:cNvPr id="11" name="Shape 9"/>
          <p:cNvSpPr/>
          <p:nvPr/>
        </p:nvSpPr>
        <p:spPr>
          <a:xfrm>
            <a:off x="530352" y="3401568"/>
            <a:ext cx="164592" cy="164592"/>
          </a:xfrm>
          <a:prstGeom prst="ellipse">
            <a:avLst/>
          </a:prstGeom>
          <a:solidFill>
            <a:srgbClr val="00B4A6"/>
          </a:solidFill>
          <a:ln/>
        </p:spPr>
      </p:sp>
      <p:sp>
        <p:nvSpPr>
          <p:cNvPr id="12" name="Text 10"/>
          <p:cNvSpPr/>
          <p:nvPr/>
        </p:nvSpPr>
        <p:spPr>
          <a:xfrm>
            <a:off x="749808" y="33375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Line Chart: Cumulative Readmission by Age</a:t>
            </a:r>
            <a:endParaRPr lang="en-US" sz="1000" dirty="0"/>
          </a:p>
        </p:txBody>
      </p:sp>
      <p:sp>
        <p:nvSpPr>
          <p:cNvPr id="13" name="Shape 11"/>
          <p:cNvSpPr/>
          <p:nvPr/>
        </p:nvSpPr>
        <p:spPr>
          <a:xfrm>
            <a:off x="3246120" y="822960"/>
            <a:ext cx="2651760" cy="4114800"/>
          </a:xfrm>
          <a:prstGeom prst="roundRect">
            <a:avLst>
              <a:gd name="adj" fmla="val 3448"/>
            </a:avLst>
          </a:prstGeom>
          <a:solidFill>
            <a:srgbClr val="1B2A3B"/>
          </a:solidFill>
          <a:ln/>
          <a:effectLst>
            <a:outerShdw blurRad="101600" dist="38100" dir="2700000" algn="bl" rotWithShape="0">
              <a:srgbClr val="000000">
                <a:alpha val="18000"/>
              </a:srgbClr>
            </a:outerShdw>
          </a:effectLst>
        </p:spPr>
      </p:sp>
      <p:sp>
        <p:nvSpPr>
          <p:cNvPr id="14" name="Shape 12"/>
          <p:cNvSpPr/>
          <p:nvPr/>
        </p:nvSpPr>
        <p:spPr>
          <a:xfrm>
            <a:off x="4297680" y="914400"/>
            <a:ext cx="548640" cy="548640"/>
          </a:xfrm>
          <a:prstGeom prst="ellipse">
            <a:avLst/>
          </a:prstGeom>
          <a:solidFill>
            <a:srgbClr val="00B4A6"/>
          </a:solidFill>
          <a:ln/>
        </p:spPr>
      </p:sp>
      <p:sp>
        <p:nvSpPr>
          <p:cNvPr id="15" name="Text 13"/>
          <p:cNvSpPr/>
          <p:nvPr/>
        </p:nvSpPr>
        <p:spPr>
          <a:xfrm>
            <a:off x="4297680" y="914400"/>
            <a:ext cx="548640" cy="54864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3337560" y="1536192"/>
            <a:ext cx="2468880" cy="365760"/>
          </a:xfrm>
          <a:prstGeom prst="rect">
            <a:avLst/>
          </a:prstGeom>
          <a:noFill/>
          <a:ln/>
        </p:spPr>
        <p:txBody>
          <a:bodyPr wrap="square" rtlCol="0" anchor="ctr"/>
          <a:lstStyle/>
          <a:p>
            <a:pPr marL="0" indent="0" algn="ctr">
              <a:buNone/>
            </a:pPr>
            <a:r>
              <a:rPr lang="en-US" sz="1100" b="1" dirty="0">
                <a:solidFill>
                  <a:srgbClr val="00B4A6"/>
                </a:solidFill>
                <a:latin typeface="Calibri" pitchFamily="34" charset="0"/>
                <a:ea typeface="Calibri" pitchFamily="34" charset="-122"/>
                <a:cs typeface="Calibri" pitchFamily="34" charset="-120"/>
              </a:rPr>
              <a:t>Page 2: Demographics &amp; Risk Profile</a:t>
            </a:r>
            <a:endParaRPr lang="en-US" sz="1100" dirty="0"/>
          </a:p>
        </p:txBody>
      </p:sp>
      <p:sp>
        <p:nvSpPr>
          <p:cNvPr id="17" name="Shape 15"/>
          <p:cNvSpPr/>
          <p:nvPr/>
        </p:nvSpPr>
        <p:spPr>
          <a:xfrm>
            <a:off x="3410712" y="2029968"/>
            <a:ext cx="164592" cy="164592"/>
          </a:xfrm>
          <a:prstGeom prst="ellipse">
            <a:avLst/>
          </a:prstGeom>
          <a:solidFill>
            <a:srgbClr val="00B4A6"/>
          </a:solidFill>
          <a:ln/>
        </p:spPr>
      </p:sp>
      <p:sp>
        <p:nvSpPr>
          <p:cNvPr id="18" name="Text 16"/>
          <p:cNvSpPr/>
          <p:nvPr/>
        </p:nvSpPr>
        <p:spPr>
          <a:xfrm>
            <a:off x="3630168" y="19659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Bar Chart: Readmission Rate by Age Group</a:t>
            </a:r>
            <a:endParaRPr lang="en-US" sz="1000" dirty="0"/>
          </a:p>
        </p:txBody>
      </p:sp>
      <p:sp>
        <p:nvSpPr>
          <p:cNvPr id="19" name="Shape 17"/>
          <p:cNvSpPr/>
          <p:nvPr/>
        </p:nvSpPr>
        <p:spPr>
          <a:xfrm>
            <a:off x="3410712" y="2715768"/>
            <a:ext cx="164592" cy="164592"/>
          </a:xfrm>
          <a:prstGeom prst="ellipse">
            <a:avLst/>
          </a:prstGeom>
          <a:solidFill>
            <a:srgbClr val="00B4A6"/>
          </a:solidFill>
          <a:ln/>
        </p:spPr>
      </p:sp>
      <p:sp>
        <p:nvSpPr>
          <p:cNvPr id="20" name="Text 18"/>
          <p:cNvSpPr/>
          <p:nvPr/>
        </p:nvSpPr>
        <p:spPr>
          <a:xfrm>
            <a:off x="3630168" y="26517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Matrix Table: Top 3 Risk Groups per Race</a:t>
            </a:r>
            <a:endParaRPr lang="en-US" sz="1000" dirty="0"/>
          </a:p>
        </p:txBody>
      </p:sp>
      <p:sp>
        <p:nvSpPr>
          <p:cNvPr id="21" name="Shape 19"/>
          <p:cNvSpPr/>
          <p:nvPr/>
        </p:nvSpPr>
        <p:spPr>
          <a:xfrm>
            <a:off x="3410712" y="3401568"/>
            <a:ext cx="164592" cy="164592"/>
          </a:xfrm>
          <a:prstGeom prst="ellipse">
            <a:avLst/>
          </a:prstGeom>
          <a:solidFill>
            <a:srgbClr val="00B4A6"/>
          </a:solidFill>
          <a:ln/>
        </p:spPr>
      </p:sp>
      <p:sp>
        <p:nvSpPr>
          <p:cNvPr id="22" name="Text 20"/>
          <p:cNvSpPr/>
          <p:nvPr/>
        </p:nvSpPr>
        <p:spPr>
          <a:xfrm>
            <a:off x="3630168" y="33375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Slicers: Gender · Readmission Status</a:t>
            </a:r>
            <a:endParaRPr lang="en-US" sz="1000" dirty="0"/>
          </a:p>
        </p:txBody>
      </p:sp>
      <p:sp>
        <p:nvSpPr>
          <p:cNvPr id="23" name="Shape 21"/>
          <p:cNvSpPr/>
          <p:nvPr/>
        </p:nvSpPr>
        <p:spPr>
          <a:xfrm>
            <a:off x="6126480" y="822960"/>
            <a:ext cx="2651760" cy="4114800"/>
          </a:xfrm>
          <a:prstGeom prst="roundRect">
            <a:avLst>
              <a:gd name="adj" fmla="val 3448"/>
            </a:avLst>
          </a:prstGeom>
          <a:solidFill>
            <a:srgbClr val="1B2A3B"/>
          </a:solidFill>
          <a:ln/>
          <a:effectLst>
            <a:outerShdw blurRad="101600" dist="38100" dir="2700000" algn="bl" rotWithShape="0">
              <a:srgbClr val="000000">
                <a:alpha val="18000"/>
              </a:srgbClr>
            </a:outerShdw>
          </a:effectLst>
        </p:spPr>
      </p:sp>
      <p:sp>
        <p:nvSpPr>
          <p:cNvPr id="24" name="Shape 22"/>
          <p:cNvSpPr/>
          <p:nvPr/>
        </p:nvSpPr>
        <p:spPr>
          <a:xfrm>
            <a:off x="7178040" y="914400"/>
            <a:ext cx="548640" cy="548640"/>
          </a:xfrm>
          <a:prstGeom prst="ellipse">
            <a:avLst/>
          </a:prstGeom>
          <a:solidFill>
            <a:srgbClr val="00B4A6"/>
          </a:solidFill>
          <a:ln/>
        </p:spPr>
      </p:sp>
      <p:sp>
        <p:nvSpPr>
          <p:cNvPr id="25" name="Text 23"/>
          <p:cNvSpPr/>
          <p:nvPr/>
        </p:nvSpPr>
        <p:spPr>
          <a:xfrm>
            <a:off x="7178040" y="914400"/>
            <a:ext cx="548640" cy="54864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3</a:t>
            </a:r>
            <a:endParaRPr lang="en-US" sz="1600" dirty="0"/>
          </a:p>
        </p:txBody>
      </p:sp>
      <p:sp>
        <p:nvSpPr>
          <p:cNvPr id="26" name="Text 24"/>
          <p:cNvSpPr/>
          <p:nvPr/>
        </p:nvSpPr>
        <p:spPr>
          <a:xfrm>
            <a:off x="6217920" y="1536192"/>
            <a:ext cx="2468880" cy="365760"/>
          </a:xfrm>
          <a:prstGeom prst="rect">
            <a:avLst/>
          </a:prstGeom>
          <a:noFill/>
          <a:ln/>
        </p:spPr>
        <p:txBody>
          <a:bodyPr wrap="square" rtlCol="0" anchor="ctr"/>
          <a:lstStyle/>
          <a:p>
            <a:pPr marL="0" indent="0" algn="ctr">
              <a:buNone/>
            </a:pPr>
            <a:r>
              <a:rPr lang="en-US" sz="1100" b="1" dirty="0">
                <a:solidFill>
                  <a:srgbClr val="00B4A6"/>
                </a:solidFill>
                <a:latin typeface="Calibri" pitchFamily="34" charset="0"/>
                <a:ea typeface="Calibri" pitchFamily="34" charset="-122"/>
                <a:cs typeface="Calibri" pitchFamily="34" charset="-120"/>
              </a:rPr>
              <a:t>Page 3: Treatment &amp; Hospital Stay</a:t>
            </a:r>
            <a:endParaRPr lang="en-US" sz="1100" dirty="0"/>
          </a:p>
        </p:txBody>
      </p:sp>
      <p:sp>
        <p:nvSpPr>
          <p:cNvPr id="27" name="Shape 25"/>
          <p:cNvSpPr/>
          <p:nvPr/>
        </p:nvSpPr>
        <p:spPr>
          <a:xfrm>
            <a:off x="6291072" y="2029968"/>
            <a:ext cx="164592" cy="164592"/>
          </a:xfrm>
          <a:prstGeom prst="ellipse">
            <a:avLst/>
          </a:prstGeom>
          <a:solidFill>
            <a:srgbClr val="00B4A6"/>
          </a:solidFill>
          <a:ln/>
        </p:spPr>
      </p:sp>
      <p:sp>
        <p:nvSpPr>
          <p:cNvPr id="28" name="Text 26"/>
          <p:cNvSpPr/>
          <p:nvPr/>
        </p:nvSpPr>
        <p:spPr>
          <a:xfrm>
            <a:off x="6510528" y="19659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Combo Chart: Stay Duration vs Readmission Rate</a:t>
            </a:r>
            <a:endParaRPr lang="en-US" sz="1000" dirty="0"/>
          </a:p>
        </p:txBody>
      </p:sp>
      <p:sp>
        <p:nvSpPr>
          <p:cNvPr id="29" name="Shape 27"/>
          <p:cNvSpPr/>
          <p:nvPr/>
        </p:nvSpPr>
        <p:spPr>
          <a:xfrm>
            <a:off x="6291072" y="2715768"/>
            <a:ext cx="164592" cy="164592"/>
          </a:xfrm>
          <a:prstGeom prst="ellipse">
            <a:avLst/>
          </a:prstGeom>
          <a:solidFill>
            <a:srgbClr val="00B4A6"/>
          </a:solidFill>
          <a:ln/>
        </p:spPr>
      </p:sp>
      <p:sp>
        <p:nvSpPr>
          <p:cNvPr id="30" name="Text 28"/>
          <p:cNvSpPr/>
          <p:nvPr/>
        </p:nvSpPr>
        <p:spPr>
          <a:xfrm>
            <a:off x="6510528" y="26517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Line Chart: Moving Average Trend</a:t>
            </a:r>
            <a:endParaRPr lang="en-US" sz="1000" dirty="0"/>
          </a:p>
        </p:txBody>
      </p:sp>
      <p:sp>
        <p:nvSpPr>
          <p:cNvPr id="31" name="Shape 29"/>
          <p:cNvSpPr/>
          <p:nvPr/>
        </p:nvSpPr>
        <p:spPr>
          <a:xfrm>
            <a:off x="6291072" y="3401568"/>
            <a:ext cx="164592" cy="164592"/>
          </a:xfrm>
          <a:prstGeom prst="ellipse">
            <a:avLst/>
          </a:prstGeom>
          <a:solidFill>
            <a:srgbClr val="00B4A6"/>
          </a:solidFill>
          <a:ln/>
        </p:spPr>
      </p:sp>
      <p:sp>
        <p:nvSpPr>
          <p:cNvPr id="32" name="Text 30"/>
          <p:cNvSpPr/>
          <p:nvPr/>
        </p:nvSpPr>
        <p:spPr>
          <a:xfrm>
            <a:off x="6510528" y="33375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Bar Chart: Top 10 Primary Diagnoses</a:t>
            </a:r>
            <a:endParaRPr lang="en-US" sz="1000" dirty="0"/>
          </a:p>
        </p:txBody>
      </p:sp>
      <p:sp>
        <p:nvSpPr>
          <p:cNvPr id="33" name="Shape 31"/>
          <p:cNvSpPr/>
          <p:nvPr/>
        </p:nvSpPr>
        <p:spPr>
          <a:xfrm>
            <a:off x="6291072" y="4087368"/>
            <a:ext cx="164592" cy="164592"/>
          </a:xfrm>
          <a:prstGeom prst="ellipse">
            <a:avLst/>
          </a:prstGeom>
          <a:solidFill>
            <a:srgbClr val="00B4A6"/>
          </a:solidFill>
          <a:ln/>
        </p:spPr>
      </p:sp>
      <p:sp>
        <p:nvSpPr>
          <p:cNvPr id="34" name="Text 32"/>
          <p:cNvSpPr/>
          <p:nvPr/>
        </p:nvSpPr>
        <p:spPr>
          <a:xfrm>
            <a:off x="6510528" y="4023360"/>
            <a:ext cx="21488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Slicers: Risk Category · Race</a:t>
            </a:r>
            <a:endParaRPr lang="en-US" sz="1000" dirty="0"/>
          </a:p>
        </p:txBody>
      </p:sp>
      <p:sp>
        <p:nvSpPr>
          <p:cNvPr id="35" name="Shape 33"/>
          <p:cNvSpPr/>
          <p:nvPr/>
        </p:nvSpPr>
        <p:spPr>
          <a:xfrm>
            <a:off x="365760" y="4663440"/>
            <a:ext cx="8412480" cy="320040"/>
          </a:xfrm>
          <a:prstGeom prst="roundRect">
            <a:avLst>
              <a:gd name="adj" fmla="val 20000"/>
            </a:avLst>
          </a:prstGeom>
          <a:solidFill>
            <a:srgbClr val="1E3A4A"/>
          </a:solidFill>
          <a:ln/>
        </p:spPr>
      </p:sp>
      <p:sp>
        <p:nvSpPr>
          <p:cNvPr id="36" name="Text 34"/>
          <p:cNvSpPr/>
          <p:nvPr/>
        </p:nvSpPr>
        <p:spPr>
          <a:xfrm>
            <a:off x="457200" y="4681728"/>
            <a:ext cx="8229600" cy="274320"/>
          </a:xfrm>
          <a:prstGeom prst="rect">
            <a:avLst/>
          </a:prstGeom>
          <a:noFill/>
          <a:ln/>
        </p:spPr>
        <p:txBody>
          <a:bodyPr wrap="square" rtlCol="0" anchor="ctr"/>
          <a:lstStyle/>
          <a:p>
            <a:pPr marL="0" indent="0" algn="ctr">
              <a:buNone/>
            </a:pPr>
            <a:r>
              <a:rPr lang="en-US" sz="1000" dirty="0">
                <a:solidFill>
                  <a:srgbClr val="00B4A6"/>
                </a:solidFill>
                <a:latin typeface="Calibri" pitchFamily="34" charset="0"/>
                <a:ea typeface="Calibri" pitchFamily="34" charset="-122"/>
                <a:cs typeface="Calibri" pitchFamily="34" charset="-120"/>
              </a:rPr>
              <a:t>Dashboard Theme: Dark Navy Background (#0D1B2A)  ·  Teal Accent (#00B4A6)  ·  Interactive Slicers on Every Page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Findings</a:t>
            </a:r>
            <a:endParaRPr lang="en-US" sz="2800" dirty="0"/>
          </a:p>
        </p:txBody>
      </p:sp>
      <p:sp>
        <p:nvSpPr>
          <p:cNvPr id="3" name="Shape 1"/>
          <p:cNvSpPr/>
          <p:nvPr/>
        </p:nvSpPr>
        <p:spPr>
          <a:xfrm>
            <a:off x="365760" y="868680"/>
            <a:ext cx="4206240" cy="1188720"/>
          </a:xfrm>
          <a:prstGeom prst="roundRect">
            <a:avLst>
              <a:gd name="adj" fmla="val 7692"/>
            </a:avLst>
          </a:prstGeom>
          <a:solidFill>
            <a:srgbClr val="1B2A3B"/>
          </a:solidFill>
          <a:ln/>
          <a:effectLst>
            <a:outerShdw blurRad="101600" dist="38100" dir="2700000" algn="bl" rotWithShape="0">
              <a:srgbClr val="000000">
                <a:alpha val="18000"/>
              </a:srgbClr>
            </a:outerShdw>
          </a:effectLst>
        </p:spPr>
      </p:sp>
      <p:sp>
        <p:nvSpPr>
          <p:cNvPr id="4" name="Text 2"/>
          <p:cNvSpPr/>
          <p:nvPr/>
        </p:nvSpPr>
        <p:spPr>
          <a:xfrm>
            <a:off x="502920" y="118872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5" name="Text 3"/>
          <p:cNvSpPr/>
          <p:nvPr/>
        </p:nvSpPr>
        <p:spPr>
          <a:xfrm>
            <a:off x="1005840" y="960120"/>
            <a:ext cx="3429000" cy="274320"/>
          </a:xfrm>
          <a:prstGeom prst="rect">
            <a:avLst/>
          </a:prstGeom>
          <a:noFill/>
          <a:ln/>
        </p:spPr>
        <p:txBody>
          <a:bodyPr wrap="square" rtlCol="0" anchor="ctr"/>
          <a:lstStyle/>
          <a:p>
            <a:pPr marL="0" indent="0">
              <a:buNone/>
            </a:pPr>
            <a:r>
              <a:rPr lang="en-US" sz="1100" b="1" dirty="0">
                <a:solidFill>
                  <a:srgbClr val="00B4A6"/>
                </a:solidFill>
                <a:latin typeface="Calibri" pitchFamily="34" charset="0"/>
                <a:ea typeface="Calibri" pitchFamily="34" charset="-122"/>
                <a:cs typeface="Calibri" pitchFamily="34" charset="-120"/>
              </a:rPr>
              <a:t>Age is the Strongest Predictor</a:t>
            </a:r>
            <a:endParaRPr lang="en-US" sz="1100" dirty="0"/>
          </a:p>
        </p:txBody>
      </p:sp>
      <p:sp>
        <p:nvSpPr>
          <p:cNvPr id="6" name="Text 4"/>
          <p:cNvSpPr/>
          <p:nvPr/>
        </p:nvSpPr>
        <p:spPr>
          <a:xfrm>
            <a:off x="1005840" y="1252728"/>
            <a:ext cx="3429000" cy="6858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Patients aged 70-90 have nearly double the readmission risk (48%+) compared to patients under 30 (21.5%)</a:t>
            </a:r>
            <a:endParaRPr lang="en-US" sz="1000" dirty="0"/>
          </a:p>
        </p:txBody>
      </p:sp>
      <p:sp>
        <p:nvSpPr>
          <p:cNvPr id="7" name="Shape 5"/>
          <p:cNvSpPr/>
          <p:nvPr/>
        </p:nvSpPr>
        <p:spPr>
          <a:xfrm>
            <a:off x="4800600" y="868680"/>
            <a:ext cx="4206240" cy="1188720"/>
          </a:xfrm>
          <a:prstGeom prst="roundRect">
            <a:avLst>
              <a:gd name="adj" fmla="val 7692"/>
            </a:avLst>
          </a:prstGeom>
          <a:solidFill>
            <a:srgbClr val="1B2A3B"/>
          </a:solidFill>
          <a:ln/>
          <a:effectLst>
            <a:outerShdw blurRad="101600" dist="38100" dir="2700000" algn="bl" rotWithShape="0">
              <a:srgbClr val="000000">
                <a:alpha val="18000"/>
              </a:srgbClr>
            </a:outerShdw>
          </a:effectLst>
        </p:spPr>
      </p:sp>
      <p:sp>
        <p:nvSpPr>
          <p:cNvPr id="8" name="Text 6"/>
          <p:cNvSpPr/>
          <p:nvPr/>
        </p:nvSpPr>
        <p:spPr>
          <a:xfrm>
            <a:off x="4937760" y="118872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9" name="Text 7"/>
          <p:cNvSpPr/>
          <p:nvPr/>
        </p:nvSpPr>
        <p:spPr>
          <a:xfrm>
            <a:off x="5440680" y="960120"/>
            <a:ext cx="3429000" cy="274320"/>
          </a:xfrm>
          <a:prstGeom prst="rect">
            <a:avLst/>
          </a:prstGeom>
          <a:noFill/>
          <a:ln/>
        </p:spPr>
        <p:txBody>
          <a:bodyPr wrap="square" rtlCol="0" anchor="ctr"/>
          <a:lstStyle/>
          <a:p>
            <a:pPr marL="0" indent="0">
              <a:buNone/>
            </a:pPr>
            <a:r>
              <a:rPr lang="en-US" sz="1100" b="1" dirty="0">
                <a:solidFill>
                  <a:srgbClr val="E05C5C"/>
                </a:solidFill>
                <a:latin typeface="Calibri" pitchFamily="34" charset="0"/>
                <a:ea typeface="Calibri" pitchFamily="34" charset="-122"/>
                <a:cs typeface="Calibri" pitchFamily="34" charset="-120"/>
              </a:rPr>
              <a:t>Very High Risk Patients</a:t>
            </a:r>
            <a:endParaRPr lang="en-US" sz="1100" dirty="0"/>
          </a:p>
        </p:txBody>
      </p:sp>
      <p:sp>
        <p:nvSpPr>
          <p:cNvPr id="10" name="Text 8"/>
          <p:cNvSpPr/>
          <p:nvPr/>
        </p:nvSpPr>
        <p:spPr>
          <a:xfrm>
            <a:off x="5440680" y="1252728"/>
            <a:ext cx="3429000" cy="6858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Patients with ≥2 prior inpatient visits, ≥15 medications, and ≥7 day stays have a 68.58% readmission rate</a:t>
            </a:r>
            <a:endParaRPr lang="en-US" sz="1000" dirty="0"/>
          </a:p>
        </p:txBody>
      </p:sp>
      <p:sp>
        <p:nvSpPr>
          <p:cNvPr id="11" name="Shape 9"/>
          <p:cNvSpPr/>
          <p:nvPr/>
        </p:nvSpPr>
        <p:spPr>
          <a:xfrm>
            <a:off x="365760" y="2194560"/>
            <a:ext cx="4206240" cy="1188720"/>
          </a:xfrm>
          <a:prstGeom prst="roundRect">
            <a:avLst>
              <a:gd name="adj" fmla="val 7692"/>
            </a:avLst>
          </a:prstGeom>
          <a:solidFill>
            <a:srgbClr val="1B2A3B"/>
          </a:solidFill>
          <a:ln/>
          <a:effectLst>
            <a:outerShdw blurRad="101600" dist="38100" dir="2700000" algn="bl" rotWithShape="0">
              <a:srgbClr val="000000">
                <a:alpha val="18000"/>
              </a:srgbClr>
            </a:outerShdw>
          </a:effectLst>
        </p:spPr>
      </p:sp>
      <p:sp>
        <p:nvSpPr>
          <p:cNvPr id="12" name="Text 10"/>
          <p:cNvSpPr/>
          <p:nvPr/>
        </p:nvSpPr>
        <p:spPr>
          <a:xfrm>
            <a:off x="502920" y="251460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3" name="Text 11"/>
          <p:cNvSpPr/>
          <p:nvPr/>
        </p:nvSpPr>
        <p:spPr>
          <a:xfrm>
            <a:off x="1005840" y="2286000"/>
            <a:ext cx="3429000" cy="274320"/>
          </a:xfrm>
          <a:prstGeom prst="rect">
            <a:avLst/>
          </a:prstGeom>
          <a:noFill/>
          <a:ln/>
        </p:spPr>
        <p:txBody>
          <a:bodyPr wrap="square" rtlCol="0" anchor="ctr"/>
          <a:lstStyle/>
          <a:p>
            <a:pPr marL="0" indent="0">
              <a:buNone/>
            </a:pPr>
            <a:r>
              <a:rPr lang="en-US" sz="1100" b="1" dirty="0">
                <a:solidFill>
                  <a:srgbClr val="F5A623"/>
                </a:solidFill>
                <a:latin typeface="Calibri" pitchFamily="34" charset="0"/>
                <a:ea typeface="Calibri" pitchFamily="34" charset="-122"/>
                <a:cs typeface="Calibri" pitchFamily="34" charset="-120"/>
              </a:rPr>
              <a:t>Pareto Pattern Confirmed</a:t>
            </a:r>
            <a:endParaRPr lang="en-US" sz="1100" dirty="0"/>
          </a:p>
        </p:txBody>
      </p:sp>
      <p:sp>
        <p:nvSpPr>
          <p:cNvPr id="14" name="Text 12"/>
          <p:cNvSpPr/>
          <p:nvPr/>
        </p:nvSpPr>
        <p:spPr>
          <a:xfrm>
            <a:off x="1005840" y="2578608"/>
            <a:ext cx="3429000" cy="6858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Just the top 3 age groups (60-90) account for 65% of all readmissions — target these for maximum impact</a:t>
            </a:r>
            <a:endParaRPr lang="en-US" sz="1000" dirty="0"/>
          </a:p>
        </p:txBody>
      </p:sp>
      <p:sp>
        <p:nvSpPr>
          <p:cNvPr id="15" name="Shape 13"/>
          <p:cNvSpPr/>
          <p:nvPr/>
        </p:nvSpPr>
        <p:spPr>
          <a:xfrm>
            <a:off x="4800600" y="2194560"/>
            <a:ext cx="4206240" cy="1188720"/>
          </a:xfrm>
          <a:prstGeom prst="roundRect">
            <a:avLst>
              <a:gd name="adj" fmla="val 7692"/>
            </a:avLst>
          </a:prstGeom>
          <a:solidFill>
            <a:srgbClr val="1B2A3B"/>
          </a:solidFill>
          <a:ln/>
          <a:effectLst>
            <a:outerShdw blurRad="101600" dist="38100" dir="2700000" algn="bl" rotWithShape="0">
              <a:srgbClr val="000000">
                <a:alpha val="18000"/>
              </a:srgbClr>
            </a:outerShdw>
          </a:effectLst>
        </p:spPr>
      </p:sp>
      <p:sp>
        <p:nvSpPr>
          <p:cNvPr id="16" name="Text 14"/>
          <p:cNvSpPr/>
          <p:nvPr/>
        </p:nvSpPr>
        <p:spPr>
          <a:xfrm>
            <a:off x="4937760" y="251460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7" name="Text 15"/>
          <p:cNvSpPr/>
          <p:nvPr/>
        </p:nvSpPr>
        <p:spPr>
          <a:xfrm>
            <a:off x="5440680" y="2286000"/>
            <a:ext cx="3429000" cy="274320"/>
          </a:xfrm>
          <a:prstGeom prst="rect">
            <a:avLst/>
          </a:prstGeom>
          <a:noFill/>
          <a:ln/>
        </p:spPr>
        <p:txBody>
          <a:bodyPr wrap="square" rtlCol="0" anchor="ctr"/>
          <a:lstStyle/>
          <a:p>
            <a:pPr marL="0" indent="0">
              <a:buNone/>
            </a:pPr>
            <a:r>
              <a:rPr lang="en-US" sz="1100" b="1" dirty="0">
                <a:solidFill>
                  <a:srgbClr val="4A90D9"/>
                </a:solidFill>
                <a:latin typeface="Calibri" pitchFamily="34" charset="0"/>
                <a:ea typeface="Calibri" pitchFamily="34" charset="-122"/>
                <a:cs typeface="Calibri" pitchFamily="34" charset="-120"/>
              </a:rPr>
              <a:t>Cardiac Comorbidities Dominate</a:t>
            </a:r>
            <a:endParaRPr lang="en-US" sz="1100" dirty="0"/>
          </a:p>
        </p:txBody>
      </p:sp>
      <p:sp>
        <p:nvSpPr>
          <p:cNvPr id="18" name="Text 16"/>
          <p:cNvSpPr/>
          <p:nvPr/>
        </p:nvSpPr>
        <p:spPr>
          <a:xfrm>
            <a:off x="5440680" y="2578608"/>
            <a:ext cx="3429000" cy="6858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Heart Failure (428) and Coronary Artery Disease (414) are the most common diagnoses alongside diabetes</a:t>
            </a:r>
            <a:endParaRPr lang="en-US" sz="1000" dirty="0"/>
          </a:p>
        </p:txBody>
      </p:sp>
      <p:sp>
        <p:nvSpPr>
          <p:cNvPr id="19" name="Shape 17"/>
          <p:cNvSpPr/>
          <p:nvPr/>
        </p:nvSpPr>
        <p:spPr>
          <a:xfrm>
            <a:off x="365760" y="3520440"/>
            <a:ext cx="4206240" cy="1188720"/>
          </a:xfrm>
          <a:prstGeom prst="roundRect">
            <a:avLst>
              <a:gd name="adj" fmla="val 7692"/>
            </a:avLst>
          </a:prstGeom>
          <a:solidFill>
            <a:srgbClr val="1B2A3B"/>
          </a:solidFill>
          <a:ln/>
          <a:effectLst>
            <a:outerShdw blurRad="101600" dist="38100" dir="2700000" algn="bl" rotWithShape="0">
              <a:srgbClr val="000000">
                <a:alpha val="18000"/>
              </a:srgbClr>
            </a:outerShdw>
          </a:effectLst>
        </p:spPr>
      </p:sp>
      <p:sp>
        <p:nvSpPr>
          <p:cNvPr id="20" name="Text 18"/>
          <p:cNvSpPr/>
          <p:nvPr/>
        </p:nvSpPr>
        <p:spPr>
          <a:xfrm>
            <a:off x="502920" y="384048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1" name="Text 19"/>
          <p:cNvSpPr/>
          <p:nvPr/>
        </p:nvSpPr>
        <p:spPr>
          <a:xfrm>
            <a:off x="1005840" y="3611880"/>
            <a:ext cx="3429000" cy="274320"/>
          </a:xfrm>
          <a:prstGeom prst="rect">
            <a:avLst/>
          </a:prstGeom>
          <a:noFill/>
          <a:ln/>
        </p:spPr>
        <p:txBody>
          <a:bodyPr wrap="square" rtlCol="0" anchor="ctr"/>
          <a:lstStyle/>
          <a:p>
            <a:pPr marL="0" indent="0">
              <a:buNone/>
            </a:pPr>
            <a:r>
              <a:rPr lang="en-US" sz="1100" b="1" dirty="0">
                <a:solidFill>
                  <a:srgbClr val="4CAF8C"/>
                </a:solidFill>
                <a:latin typeface="Calibri" pitchFamily="34" charset="0"/>
                <a:ea typeface="Calibri" pitchFamily="34" charset="-122"/>
                <a:cs typeface="Calibri" pitchFamily="34" charset="-120"/>
              </a:rPr>
              <a:t>Stay Duration Matters</a:t>
            </a:r>
            <a:endParaRPr lang="en-US" sz="1100" dirty="0"/>
          </a:p>
        </p:txBody>
      </p:sp>
      <p:sp>
        <p:nvSpPr>
          <p:cNvPr id="22" name="Text 20"/>
          <p:cNvSpPr/>
          <p:nvPr/>
        </p:nvSpPr>
        <p:spPr>
          <a:xfrm>
            <a:off x="1005840" y="3904488"/>
            <a:ext cx="3429000" cy="6858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Readmission rate jumps past 50% from day 8 of hospital stay — early intervention before day 8 is critical</a:t>
            </a:r>
            <a:endParaRPr lang="en-US" sz="1000" dirty="0"/>
          </a:p>
        </p:txBody>
      </p:sp>
      <p:sp>
        <p:nvSpPr>
          <p:cNvPr id="23" name="Shape 21"/>
          <p:cNvSpPr/>
          <p:nvPr/>
        </p:nvSpPr>
        <p:spPr>
          <a:xfrm>
            <a:off x="4800600" y="3520440"/>
            <a:ext cx="4206240" cy="1188720"/>
          </a:xfrm>
          <a:prstGeom prst="roundRect">
            <a:avLst>
              <a:gd name="adj" fmla="val 7692"/>
            </a:avLst>
          </a:prstGeom>
          <a:solidFill>
            <a:srgbClr val="1B2A3B"/>
          </a:solidFill>
          <a:ln/>
          <a:effectLst>
            <a:outerShdw blurRad="101600" dist="38100" dir="2700000" algn="bl" rotWithShape="0">
              <a:srgbClr val="000000">
                <a:alpha val="18000"/>
              </a:srgbClr>
            </a:outerShdw>
          </a:effectLst>
        </p:spPr>
      </p:sp>
      <p:sp>
        <p:nvSpPr>
          <p:cNvPr id="24" name="Text 22"/>
          <p:cNvSpPr/>
          <p:nvPr/>
        </p:nvSpPr>
        <p:spPr>
          <a:xfrm>
            <a:off x="4937760" y="3840480"/>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5" name="Text 23"/>
          <p:cNvSpPr/>
          <p:nvPr/>
        </p:nvSpPr>
        <p:spPr>
          <a:xfrm>
            <a:off x="5440680" y="3611880"/>
            <a:ext cx="3429000" cy="274320"/>
          </a:xfrm>
          <a:prstGeom prst="rect">
            <a:avLst/>
          </a:prstGeom>
          <a:noFill/>
          <a:ln/>
        </p:spPr>
        <p:txBody>
          <a:bodyPr wrap="square" rtlCol="0" anchor="ctr"/>
          <a:lstStyle/>
          <a:p>
            <a:pPr marL="0" indent="0">
              <a:buNone/>
            </a:pPr>
            <a:r>
              <a:rPr lang="en-US" sz="1100" b="1" dirty="0">
                <a:solidFill>
                  <a:srgbClr val="B0BEC5"/>
                </a:solidFill>
                <a:latin typeface="Calibri" pitchFamily="34" charset="0"/>
                <a:ea typeface="Calibri" pitchFamily="34" charset="-122"/>
                <a:cs typeface="Calibri" pitchFamily="34" charset="-120"/>
              </a:rPr>
              <a:t>Racial Disparities Exist</a:t>
            </a:r>
            <a:endParaRPr lang="en-US" sz="1100" dirty="0"/>
          </a:p>
        </p:txBody>
      </p:sp>
      <p:sp>
        <p:nvSpPr>
          <p:cNvPr id="26" name="Text 24"/>
          <p:cNvSpPr/>
          <p:nvPr/>
        </p:nvSpPr>
        <p:spPr>
          <a:xfrm>
            <a:off x="5440680" y="3904488"/>
            <a:ext cx="3429000" cy="6858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Caucasian (47.1%) and African American (46%) patients have significantly higher readmission rates than Asian (35.8%)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Recommendations &amp; Limitations</a:t>
            </a:r>
            <a:endParaRPr lang="en-US" sz="2800" dirty="0"/>
          </a:p>
        </p:txBody>
      </p:sp>
      <p:sp>
        <p:nvSpPr>
          <p:cNvPr id="3" name="Shape 1"/>
          <p:cNvSpPr/>
          <p:nvPr/>
        </p:nvSpPr>
        <p:spPr>
          <a:xfrm>
            <a:off x="365760" y="822960"/>
            <a:ext cx="4754880" cy="4160520"/>
          </a:xfrm>
          <a:prstGeom prst="roundRect">
            <a:avLst>
              <a:gd name="adj" fmla="val 2198"/>
            </a:avLst>
          </a:prstGeom>
          <a:solidFill>
            <a:srgbClr val="1B2A3B"/>
          </a:solidFill>
          <a:ln/>
          <a:effectLst>
            <a:outerShdw blurRad="101600" dist="38100" dir="2700000" algn="bl" rotWithShape="0">
              <a:srgbClr val="000000">
                <a:alpha val="18000"/>
              </a:srgbClr>
            </a:outerShdw>
          </a:effectLst>
        </p:spPr>
      </p:sp>
      <p:sp>
        <p:nvSpPr>
          <p:cNvPr id="4" name="Text 2"/>
          <p:cNvSpPr/>
          <p:nvPr/>
        </p:nvSpPr>
        <p:spPr>
          <a:xfrm>
            <a:off x="548640" y="914400"/>
            <a:ext cx="4389120" cy="320040"/>
          </a:xfrm>
          <a:prstGeom prst="rect">
            <a:avLst/>
          </a:prstGeom>
          <a:noFill/>
          <a:ln/>
        </p:spPr>
        <p:txBody>
          <a:bodyPr wrap="square" rtlCol="0" anchor="ctr"/>
          <a:lstStyle/>
          <a:p>
            <a:pPr marL="0" indent="0">
              <a:buNone/>
            </a:pPr>
            <a:r>
              <a:rPr lang="en-US" sz="1300" b="1" dirty="0">
                <a:solidFill>
                  <a:srgbClr val="00B4A6"/>
                </a:solidFill>
                <a:latin typeface="Calibri" pitchFamily="34" charset="0"/>
                <a:ea typeface="Calibri" pitchFamily="34" charset="-122"/>
                <a:cs typeface="Calibri" pitchFamily="34" charset="-120"/>
              </a:rPr>
              <a:t>💡 Business Recommendations</a:t>
            </a:r>
            <a:endParaRPr lang="en-US" sz="1300" dirty="0"/>
          </a:p>
        </p:txBody>
      </p:sp>
      <p:sp>
        <p:nvSpPr>
          <p:cNvPr id="5" name="Shape 3"/>
          <p:cNvSpPr/>
          <p:nvPr/>
        </p:nvSpPr>
        <p:spPr>
          <a:xfrm>
            <a:off x="502920" y="1325880"/>
            <a:ext cx="274320" cy="274320"/>
          </a:xfrm>
          <a:prstGeom prst="roundRect">
            <a:avLst>
              <a:gd name="adj" fmla="val 16667"/>
            </a:avLst>
          </a:prstGeom>
          <a:solidFill>
            <a:srgbClr val="00B4A6"/>
          </a:solidFill>
          <a:ln/>
        </p:spPr>
      </p:sp>
      <p:sp>
        <p:nvSpPr>
          <p:cNvPr id="6" name="Text 4"/>
          <p:cNvSpPr/>
          <p:nvPr/>
        </p:nvSpPr>
        <p:spPr>
          <a:xfrm>
            <a:off x="502920" y="1325880"/>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868680" y="1298448"/>
            <a:ext cx="411480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Target elderly patients aged 70-90 with post-discharge follow-up and monitoring programs</a:t>
            </a:r>
            <a:endParaRPr lang="en-US" sz="1000" dirty="0"/>
          </a:p>
        </p:txBody>
      </p:sp>
      <p:sp>
        <p:nvSpPr>
          <p:cNvPr id="8" name="Shape 6"/>
          <p:cNvSpPr/>
          <p:nvPr/>
        </p:nvSpPr>
        <p:spPr>
          <a:xfrm>
            <a:off x="502920" y="1965960"/>
            <a:ext cx="274320" cy="274320"/>
          </a:xfrm>
          <a:prstGeom prst="roundRect">
            <a:avLst>
              <a:gd name="adj" fmla="val 16667"/>
            </a:avLst>
          </a:prstGeom>
          <a:solidFill>
            <a:srgbClr val="00B4A6"/>
          </a:solidFill>
          <a:ln/>
        </p:spPr>
      </p:sp>
      <p:sp>
        <p:nvSpPr>
          <p:cNvPr id="9" name="Text 7"/>
          <p:cNvSpPr/>
          <p:nvPr/>
        </p:nvSpPr>
        <p:spPr>
          <a:xfrm>
            <a:off x="502920" y="1965960"/>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2</a:t>
            </a:r>
            <a:endParaRPr lang="en-US" sz="900" dirty="0"/>
          </a:p>
        </p:txBody>
      </p:sp>
      <p:sp>
        <p:nvSpPr>
          <p:cNvPr id="10" name="Text 8"/>
          <p:cNvSpPr/>
          <p:nvPr/>
        </p:nvSpPr>
        <p:spPr>
          <a:xfrm>
            <a:off x="868680" y="1938528"/>
            <a:ext cx="411480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Flag Very High Risk patients early using the three-factor risk model (inpatient visits + medications + stay duration)</a:t>
            </a:r>
            <a:endParaRPr lang="en-US" sz="1000" dirty="0"/>
          </a:p>
        </p:txBody>
      </p:sp>
      <p:sp>
        <p:nvSpPr>
          <p:cNvPr id="11" name="Shape 9"/>
          <p:cNvSpPr/>
          <p:nvPr/>
        </p:nvSpPr>
        <p:spPr>
          <a:xfrm>
            <a:off x="502920" y="2606040"/>
            <a:ext cx="274320" cy="274320"/>
          </a:xfrm>
          <a:prstGeom prst="roundRect">
            <a:avLst>
              <a:gd name="adj" fmla="val 16667"/>
            </a:avLst>
          </a:prstGeom>
          <a:solidFill>
            <a:srgbClr val="00B4A6"/>
          </a:solidFill>
          <a:ln/>
        </p:spPr>
      </p:sp>
      <p:sp>
        <p:nvSpPr>
          <p:cNvPr id="12" name="Text 10"/>
          <p:cNvSpPr/>
          <p:nvPr/>
        </p:nvSpPr>
        <p:spPr>
          <a:xfrm>
            <a:off x="502920" y="2606040"/>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3</a:t>
            </a:r>
            <a:endParaRPr lang="en-US" sz="900" dirty="0"/>
          </a:p>
        </p:txBody>
      </p:sp>
      <p:sp>
        <p:nvSpPr>
          <p:cNvPr id="13" name="Text 11"/>
          <p:cNvSpPr/>
          <p:nvPr/>
        </p:nvSpPr>
        <p:spPr>
          <a:xfrm>
            <a:off x="868680" y="2578608"/>
            <a:ext cx="411480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Allocate cardiac care resources to Heart Failure and CAD patients — highest volume diagnoses</a:t>
            </a:r>
            <a:endParaRPr lang="en-US" sz="1000" dirty="0"/>
          </a:p>
        </p:txBody>
      </p:sp>
      <p:sp>
        <p:nvSpPr>
          <p:cNvPr id="14" name="Shape 12"/>
          <p:cNvSpPr/>
          <p:nvPr/>
        </p:nvSpPr>
        <p:spPr>
          <a:xfrm>
            <a:off x="502920" y="3246120"/>
            <a:ext cx="274320" cy="274320"/>
          </a:xfrm>
          <a:prstGeom prst="roundRect">
            <a:avLst>
              <a:gd name="adj" fmla="val 16667"/>
            </a:avLst>
          </a:prstGeom>
          <a:solidFill>
            <a:srgbClr val="00B4A6"/>
          </a:solidFill>
          <a:ln/>
        </p:spPr>
      </p:sp>
      <p:sp>
        <p:nvSpPr>
          <p:cNvPr id="15" name="Text 13"/>
          <p:cNvSpPr/>
          <p:nvPr/>
        </p:nvSpPr>
        <p:spPr>
          <a:xfrm>
            <a:off x="502920" y="3246120"/>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4</a:t>
            </a:r>
            <a:endParaRPr lang="en-US" sz="900" dirty="0"/>
          </a:p>
        </p:txBody>
      </p:sp>
      <p:sp>
        <p:nvSpPr>
          <p:cNvPr id="16" name="Text 14"/>
          <p:cNvSpPr/>
          <p:nvPr/>
        </p:nvSpPr>
        <p:spPr>
          <a:xfrm>
            <a:off x="868680" y="3218688"/>
            <a:ext cx="411480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Intervene before day 8 of hospital stay to reduce long-stay readmission risk</a:t>
            </a:r>
            <a:endParaRPr lang="en-US" sz="1000" dirty="0"/>
          </a:p>
        </p:txBody>
      </p:sp>
      <p:sp>
        <p:nvSpPr>
          <p:cNvPr id="17" name="Shape 15"/>
          <p:cNvSpPr/>
          <p:nvPr/>
        </p:nvSpPr>
        <p:spPr>
          <a:xfrm>
            <a:off x="502920" y="3886200"/>
            <a:ext cx="274320" cy="274320"/>
          </a:xfrm>
          <a:prstGeom prst="roundRect">
            <a:avLst>
              <a:gd name="adj" fmla="val 16667"/>
            </a:avLst>
          </a:prstGeom>
          <a:solidFill>
            <a:srgbClr val="00B4A6"/>
          </a:solidFill>
          <a:ln/>
        </p:spPr>
      </p:sp>
      <p:sp>
        <p:nvSpPr>
          <p:cNvPr id="18" name="Text 16"/>
          <p:cNvSpPr/>
          <p:nvPr/>
        </p:nvSpPr>
        <p:spPr>
          <a:xfrm>
            <a:off x="502920" y="3886200"/>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5</a:t>
            </a:r>
            <a:endParaRPr lang="en-US" sz="900" dirty="0"/>
          </a:p>
        </p:txBody>
      </p:sp>
      <p:sp>
        <p:nvSpPr>
          <p:cNvPr id="19" name="Text 17"/>
          <p:cNvSpPr/>
          <p:nvPr/>
        </p:nvSpPr>
        <p:spPr>
          <a:xfrm>
            <a:off x="868680" y="3858768"/>
            <a:ext cx="411480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Design race-aware care programs to address the 12% readmission gap between demographic groups</a:t>
            </a:r>
            <a:endParaRPr lang="en-US" sz="1000" dirty="0"/>
          </a:p>
        </p:txBody>
      </p:sp>
      <p:sp>
        <p:nvSpPr>
          <p:cNvPr id="20" name="Shape 18"/>
          <p:cNvSpPr/>
          <p:nvPr/>
        </p:nvSpPr>
        <p:spPr>
          <a:xfrm>
            <a:off x="5257800" y="822960"/>
            <a:ext cx="3520440" cy="4160520"/>
          </a:xfrm>
          <a:prstGeom prst="roundRect">
            <a:avLst>
              <a:gd name="adj" fmla="val 2597"/>
            </a:avLst>
          </a:prstGeom>
          <a:solidFill>
            <a:srgbClr val="1B2A3B"/>
          </a:solidFill>
          <a:ln/>
          <a:effectLst>
            <a:outerShdw blurRad="101600" dist="38100" dir="2700000" algn="bl" rotWithShape="0">
              <a:srgbClr val="000000">
                <a:alpha val="18000"/>
              </a:srgbClr>
            </a:outerShdw>
          </a:effectLst>
        </p:spPr>
      </p:sp>
      <p:sp>
        <p:nvSpPr>
          <p:cNvPr id="21" name="Text 19"/>
          <p:cNvSpPr/>
          <p:nvPr/>
        </p:nvSpPr>
        <p:spPr>
          <a:xfrm>
            <a:off x="5394960" y="914400"/>
            <a:ext cx="3200400" cy="320040"/>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 Limitations</a:t>
            </a:r>
            <a:endParaRPr lang="en-US" sz="1300" dirty="0"/>
          </a:p>
        </p:txBody>
      </p:sp>
      <p:sp>
        <p:nvSpPr>
          <p:cNvPr id="22" name="Shape 20"/>
          <p:cNvSpPr/>
          <p:nvPr/>
        </p:nvSpPr>
        <p:spPr>
          <a:xfrm>
            <a:off x="5376672" y="1371600"/>
            <a:ext cx="164592" cy="164592"/>
          </a:xfrm>
          <a:prstGeom prst="ellipse">
            <a:avLst/>
          </a:prstGeom>
          <a:solidFill>
            <a:srgbClr val="F5A623"/>
          </a:solidFill>
          <a:ln/>
        </p:spPr>
      </p:sp>
      <p:sp>
        <p:nvSpPr>
          <p:cNvPr id="23" name="Text 21"/>
          <p:cNvSpPr/>
          <p:nvPr/>
        </p:nvSpPr>
        <p:spPr>
          <a:xfrm>
            <a:off x="5623560" y="1316736"/>
            <a:ext cx="30632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Dataset from 1999-2008 — may not reflect current medical practices</a:t>
            </a:r>
            <a:endParaRPr lang="en-US" sz="1000" dirty="0"/>
          </a:p>
        </p:txBody>
      </p:sp>
      <p:sp>
        <p:nvSpPr>
          <p:cNvPr id="24" name="Shape 22"/>
          <p:cNvSpPr/>
          <p:nvPr/>
        </p:nvSpPr>
        <p:spPr>
          <a:xfrm>
            <a:off x="5376672" y="1965960"/>
            <a:ext cx="164592" cy="164592"/>
          </a:xfrm>
          <a:prstGeom prst="ellipse">
            <a:avLst/>
          </a:prstGeom>
          <a:solidFill>
            <a:srgbClr val="F5A623"/>
          </a:solidFill>
          <a:ln/>
        </p:spPr>
      </p:sp>
      <p:sp>
        <p:nvSpPr>
          <p:cNvPr id="25" name="Text 23"/>
          <p:cNvSpPr/>
          <p:nvPr/>
        </p:nvSpPr>
        <p:spPr>
          <a:xfrm>
            <a:off x="5623560" y="1911096"/>
            <a:ext cx="30632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Weight (96.8% missing) and A1C (83.3% missing) — key clinical features lost</a:t>
            </a:r>
            <a:endParaRPr lang="en-US" sz="1000" dirty="0"/>
          </a:p>
        </p:txBody>
      </p:sp>
      <p:sp>
        <p:nvSpPr>
          <p:cNvPr id="26" name="Shape 24"/>
          <p:cNvSpPr/>
          <p:nvPr/>
        </p:nvSpPr>
        <p:spPr>
          <a:xfrm>
            <a:off x="5376672" y="2560320"/>
            <a:ext cx="164592" cy="164592"/>
          </a:xfrm>
          <a:prstGeom prst="ellipse">
            <a:avLst/>
          </a:prstGeom>
          <a:solidFill>
            <a:srgbClr val="F5A623"/>
          </a:solidFill>
          <a:ln/>
        </p:spPr>
      </p:sp>
      <p:sp>
        <p:nvSpPr>
          <p:cNvPr id="27" name="Text 25"/>
          <p:cNvSpPr/>
          <p:nvPr/>
        </p:nvSpPr>
        <p:spPr>
          <a:xfrm>
            <a:off x="5623560" y="2505456"/>
            <a:ext cx="30632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No temporal analysis — readmission patterns over time not explored</a:t>
            </a:r>
            <a:endParaRPr lang="en-US" sz="1000" dirty="0"/>
          </a:p>
        </p:txBody>
      </p:sp>
      <p:sp>
        <p:nvSpPr>
          <p:cNvPr id="28" name="Shape 26"/>
          <p:cNvSpPr/>
          <p:nvPr/>
        </p:nvSpPr>
        <p:spPr>
          <a:xfrm>
            <a:off x="5376672" y="3154680"/>
            <a:ext cx="164592" cy="164592"/>
          </a:xfrm>
          <a:prstGeom prst="ellipse">
            <a:avLst/>
          </a:prstGeom>
          <a:solidFill>
            <a:srgbClr val="F5A623"/>
          </a:solidFill>
          <a:ln/>
        </p:spPr>
      </p:sp>
      <p:sp>
        <p:nvSpPr>
          <p:cNvPr id="29" name="Text 27"/>
          <p:cNvSpPr/>
          <p:nvPr/>
        </p:nvSpPr>
        <p:spPr>
          <a:xfrm>
            <a:off x="5623560" y="3099816"/>
            <a:ext cx="30632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ICD-9 codes not mapped to disease names in analysis</a:t>
            </a:r>
            <a:endParaRPr lang="en-US" sz="1000" dirty="0"/>
          </a:p>
        </p:txBody>
      </p:sp>
      <p:sp>
        <p:nvSpPr>
          <p:cNvPr id="30" name="Shape 28"/>
          <p:cNvSpPr/>
          <p:nvPr/>
        </p:nvSpPr>
        <p:spPr>
          <a:xfrm>
            <a:off x="5376672" y="3749040"/>
            <a:ext cx="164592" cy="164592"/>
          </a:xfrm>
          <a:prstGeom prst="ellipse">
            <a:avLst/>
          </a:prstGeom>
          <a:solidFill>
            <a:srgbClr val="F5A623"/>
          </a:solidFill>
          <a:ln/>
        </p:spPr>
      </p:sp>
      <p:sp>
        <p:nvSpPr>
          <p:cNvPr id="31" name="Text 29"/>
          <p:cNvSpPr/>
          <p:nvPr/>
        </p:nvSpPr>
        <p:spPr>
          <a:xfrm>
            <a:off x="5623560" y="3694176"/>
            <a:ext cx="3063240" cy="502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Risk thresholds set manually — ML model could improve accuracy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3" name="Shape 1"/>
          <p:cNvSpPr/>
          <p:nvPr/>
        </p:nvSpPr>
        <p:spPr>
          <a:xfrm>
            <a:off x="365760" y="822960"/>
            <a:ext cx="8412480" cy="1188720"/>
          </a:xfrm>
          <a:prstGeom prst="roundRect">
            <a:avLst>
              <a:gd name="adj" fmla="val 7692"/>
            </a:avLst>
          </a:prstGeom>
          <a:solidFill>
            <a:srgbClr val="1B2A3B"/>
          </a:solidFill>
          <a:ln/>
          <a:effectLst>
            <a:outerShdw blurRad="101600" dist="38100" dir="2700000" algn="bl" rotWithShape="0">
              <a:srgbClr val="000000">
                <a:alpha val="18000"/>
              </a:srgbClr>
            </a:outerShdw>
          </a:effectLst>
        </p:spPr>
      </p:sp>
      <p:sp>
        <p:nvSpPr>
          <p:cNvPr id="4" name="Text 2"/>
          <p:cNvSpPr/>
          <p:nvPr/>
        </p:nvSpPr>
        <p:spPr>
          <a:xfrm>
            <a:off x="548640" y="914400"/>
            <a:ext cx="8046720" cy="100584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This project demonstrates a complete end-to-end healthcare data analytics workflow — from raw messy data with placeholder missing values, through Python cleaning and EDA, to advanced SQL analysis and an interactive Power BI dashboard. The analysis confirms that age, hospital stay duration, medication count, and prior inpatient visits are strong predictors of readmission risk.</a:t>
            </a:r>
            <a:endParaRPr lang="en-US" sz="1100" dirty="0"/>
          </a:p>
        </p:txBody>
      </p:sp>
      <p:sp>
        <p:nvSpPr>
          <p:cNvPr id="5" name="Shape 3"/>
          <p:cNvSpPr/>
          <p:nvPr/>
        </p:nvSpPr>
        <p:spPr>
          <a:xfrm>
            <a:off x="365760" y="2148840"/>
            <a:ext cx="2651760" cy="1005840"/>
          </a:xfrm>
          <a:prstGeom prst="roundRect">
            <a:avLst>
              <a:gd name="adj" fmla="val 9091"/>
            </a:avLst>
          </a:prstGeom>
          <a:solidFill>
            <a:srgbClr val="1B2A3B"/>
          </a:solidFill>
          <a:ln/>
          <a:effectLst>
            <a:outerShdw blurRad="101600" dist="38100" dir="2700000" algn="bl" rotWithShape="0">
              <a:srgbClr val="000000">
                <a:alpha val="18000"/>
              </a:srgbClr>
            </a:outerShdw>
          </a:effectLst>
        </p:spPr>
      </p:sp>
      <p:sp>
        <p:nvSpPr>
          <p:cNvPr id="6" name="Text 4"/>
          <p:cNvSpPr/>
          <p:nvPr/>
        </p:nvSpPr>
        <p:spPr>
          <a:xfrm>
            <a:off x="365760" y="2258568"/>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914400" y="2240280"/>
            <a:ext cx="2011680" cy="274320"/>
          </a:xfrm>
          <a:prstGeom prst="rect">
            <a:avLst/>
          </a:prstGeom>
          <a:noFill/>
          <a:ln/>
        </p:spPr>
        <p:txBody>
          <a:bodyPr wrap="square" rtlCol="0" anchor="ctr"/>
          <a:lstStyle/>
          <a:p>
            <a:pPr marL="0" indent="0">
              <a:buNone/>
            </a:pPr>
            <a:r>
              <a:rPr lang="en-US" sz="1100" b="1" dirty="0">
                <a:solidFill>
                  <a:srgbClr val="00B4A6"/>
                </a:solidFill>
                <a:latin typeface="Calibri" pitchFamily="34" charset="0"/>
                <a:ea typeface="Calibri" pitchFamily="34" charset="-122"/>
                <a:cs typeface="Calibri" pitchFamily="34" charset="-120"/>
              </a:rPr>
              <a:t>Python Notebook</a:t>
            </a:r>
            <a:endParaRPr lang="en-US" sz="1100" dirty="0"/>
          </a:p>
        </p:txBody>
      </p:sp>
      <p:sp>
        <p:nvSpPr>
          <p:cNvPr id="8" name="Text 6"/>
          <p:cNvSpPr/>
          <p:nvPr/>
        </p:nvSpPr>
        <p:spPr>
          <a:xfrm>
            <a:off x="914400" y="2514600"/>
            <a:ext cx="2011680" cy="3200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Cleaning + 6 EDA charts</a:t>
            </a:r>
            <a:endParaRPr lang="en-US" sz="1000" dirty="0"/>
          </a:p>
        </p:txBody>
      </p:sp>
      <p:sp>
        <p:nvSpPr>
          <p:cNvPr id="9" name="Shape 7"/>
          <p:cNvSpPr/>
          <p:nvPr/>
        </p:nvSpPr>
        <p:spPr>
          <a:xfrm>
            <a:off x="3246120" y="2148840"/>
            <a:ext cx="2651760" cy="1005840"/>
          </a:xfrm>
          <a:prstGeom prst="roundRect">
            <a:avLst>
              <a:gd name="adj" fmla="val 9091"/>
            </a:avLst>
          </a:prstGeom>
          <a:solidFill>
            <a:srgbClr val="1B2A3B"/>
          </a:solidFill>
          <a:ln/>
          <a:effectLst>
            <a:outerShdw blurRad="101600" dist="38100" dir="2700000" algn="bl" rotWithShape="0">
              <a:srgbClr val="000000">
                <a:alpha val="18000"/>
              </a:srgbClr>
            </a:outerShdw>
          </a:effectLst>
        </p:spPr>
      </p:sp>
      <p:sp>
        <p:nvSpPr>
          <p:cNvPr id="10" name="Text 8"/>
          <p:cNvSpPr/>
          <p:nvPr/>
        </p:nvSpPr>
        <p:spPr>
          <a:xfrm>
            <a:off x="3246120" y="2258568"/>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3794760" y="2240280"/>
            <a:ext cx="2011680" cy="274320"/>
          </a:xfrm>
          <a:prstGeom prst="rect">
            <a:avLst/>
          </a:prstGeom>
          <a:noFill/>
          <a:ln/>
        </p:spPr>
        <p:txBody>
          <a:bodyPr wrap="square" rtlCol="0" anchor="ctr"/>
          <a:lstStyle/>
          <a:p>
            <a:pPr marL="0" indent="0">
              <a:buNone/>
            </a:pPr>
            <a:r>
              <a:rPr lang="en-US" sz="1100" b="1" dirty="0">
                <a:solidFill>
                  <a:srgbClr val="00B4A6"/>
                </a:solidFill>
                <a:latin typeface="Calibri" pitchFamily="34" charset="0"/>
                <a:ea typeface="Calibri" pitchFamily="34" charset="-122"/>
                <a:cs typeface="Calibri" pitchFamily="34" charset="-120"/>
              </a:rPr>
              <a:t>MySQL Queries</a:t>
            </a:r>
            <a:endParaRPr lang="en-US" sz="1100" dirty="0"/>
          </a:p>
        </p:txBody>
      </p:sp>
      <p:sp>
        <p:nvSpPr>
          <p:cNvPr id="12" name="Text 10"/>
          <p:cNvSpPr/>
          <p:nvPr/>
        </p:nvSpPr>
        <p:spPr>
          <a:xfrm>
            <a:off x="3794760" y="2514600"/>
            <a:ext cx="2011680" cy="3200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5 advanced SQL queries</a:t>
            </a:r>
            <a:endParaRPr lang="en-US" sz="1000" dirty="0"/>
          </a:p>
        </p:txBody>
      </p:sp>
      <p:sp>
        <p:nvSpPr>
          <p:cNvPr id="13" name="Shape 11"/>
          <p:cNvSpPr/>
          <p:nvPr/>
        </p:nvSpPr>
        <p:spPr>
          <a:xfrm>
            <a:off x="6126480" y="2148840"/>
            <a:ext cx="2651760" cy="1005840"/>
          </a:xfrm>
          <a:prstGeom prst="roundRect">
            <a:avLst>
              <a:gd name="adj" fmla="val 9091"/>
            </a:avLst>
          </a:prstGeom>
          <a:solidFill>
            <a:srgbClr val="1B2A3B"/>
          </a:solidFill>
          <a:ln/>
          <a:effectLst>
            <a:outerShdw blurRad="101600" dist="38100" dir="2700000" algn="bl" rotWithShape="0">
              <a:srgbClr val="000000">
                <a:alpha val="18000"/>
              </a:srgbClr>
            </a:outerShdw>
          </a:effectLst>
        </p:spPr>
      </p:sp>
      <p:sp>
        <p:nvSpPr>
          <p:cNvPr id="14" name="Text 12"/>
          <p:cNvSpPr/>
          <p:nvPr/>
        </p:nvSpPr>
        <p:spPr>
          <a:xfrm>
            <a:off x="6126480" y="2258568"/>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6675120" y="2240280"/>
            <a:ext cx="2011680" cy="274320"/>
          </a:xfrm>
          <a:prstGeom prst="rect">
            <a:avLst/>
          </a:prstGeom>
          <a:noFill/>
          <a:ln/>
        </p:spPr>
        <p:txBody>
          <a:bodyPr wrap="square" rtlCol="0" anchor="ctr"/>
          <a:lstStyle/>
          <a:p>
            <a:pPr marL="0" indent="0">
              <a:buNone/>
            </a:pPr>
            <a:r>
              <a:rPr lang="en-US" sz="1100" b="1" dirty="0">
                <a:solidFill>
                  <a:srgbClr val="00B4A6"/>
                </a:solidFill>
                <a:latin typeface="Calibri" pitchFamily="34" charset="0"/>
                <a:ea typeface="Calibri" pitchFamily="34" charset="-122"/>
                <a:cs typeface="Calibri" pitchFamily="34" charset="-120"/>
              </a:rPr>
              <a:t>Power BI Dashboard</a:t>
            </a:r>
            <a:endParaRPr lang="en-US" sz="1100" dirty="0"/>
          </a:p>
        </p:txBody>
      </p:sp>
      <p:sp>
        <p:nvSpPr>
          <p:cNvPr id="16" name="Text 14"/>
          <p:cNvSpPr/>
          <p:nvPr/>
        </p:nvSpPr>
        <p:spPr>
          <a:xfrm>
            <a:off x="6675120" y="2514600"/>
            <a:ext cx="2011680" cy="3200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3 interactive pages</a:t>
            </a:r>
            <a:endParaRPr lang="en-US" sz="1000" dirty="0"/>
          </a:p>
        </p:txBody>
      </p:sp>
      <p:sp>
        <p:nvSpPr>
          <p:cNvPr id="17" name="Shape 15"/>
          <p:cNvSpPr/>
          <p:nvPr/>
        </p:nvSpPr>
        <p:spPr>
          <a:xfrm>
            <a:off x="365760" y="3337560"/>
            <a:ext cx="2651760" cy="1005840"/>
          </a:xfrm>
          <a:prstGeom prst="roundRect">
            <a:avLst>
              <a:gd name="adj" fmla="val 9091"/>
            </a:avLst>
          </a:prstGeom>
          <a:solidFill>
            <a:srgbClr val="1B2A3B"/>
          </a:solidFill>
          <a:ln/>
          <a:effectLst>
            <a:outerShdw blurRad="101600" dist="38100" dir="2700000" algn="bl" rotWithShape="0">
              <a:srgbClr val="000000">
                <a:alpha val="18000"/>
              </a:srgbClr>
            </a:outerShdw>
          </a:effectLst>
        </p:spPr>
      </p:sp>
      <p:sp>
        <p:nvSpPr>
          <p:cNvPr id="18" name="Text 16"/>
          <p:cNvSpPr/>
          <p:nvPr/>
        </p:nvSpPr>
        <p:spPr>
          <a:xfrm>
            <a:off x="365760" y="3447288"/>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9" name="Text 17"/>
          <p:cNvSpPr/>
          <p:nvPr/>
        </p:nvSpPr>
        <p:spPr>
          <a:xfrm>
            <a:off x="914400" y="3429000"/>
            <a:ext cx="2011680" cy="274320"/>
          </a:xfrm>
          <a:prstGeom prst="rect">
            <a:avLst/>
          </a:prstGeom>
          <a:noFill/>
          <a:ln/>
        </p:spPr>
        <p:txBody>
          <a:bodyPr wrap="square" rtlCol="0" anchor="ctr"/>
          <a:lstStyle/>
          <a:p>
            <a:pPr marL="0" indent="0">
              <a:buNone/>
            </a:pPr>
            <a:r>
              <a:rPr lang="en-US" sz="1100" b="1" dirty="0">
                <a:solidFill>
                  <a:srgbClr val="00B4A6"/>
                </a:solidFill>
                <a:latin typeface="Calibri" pitchFamily="34" charset="0"/>
                <a:ea typeface="Calibri" pitchFamily="34" charset="-122"/>
                <a:cs typeface="Calibri" pitchFamily="34" charset="-120"/>
              </a:rPr>
              <a:t>Project Report</a:t>
            </a:r>
            <a:endParaRPr lang="en-US" sz="1100" dirty="0"/>
          </a:p>
        </p:txBody>
      </p:sp>
      <p:sp>
        <p:nvSpPr>
          <p:cNvPr id="20" name="Text 18"/>
          <p:cNvSpPr/>
          <p:nvPr/>
        </p:nvSpPr>
        <p:spPr>
          <a:xfrm>
            <a:off x="914400" y="3703320"/>
            <a:ext cx="2011680" cy="3200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Full PDF documentation</a:t>
            </a:r>
            <a:endParaRPr lang="en-US" sz="1000" dirty="0"/>
          </a:p>
        </p:txBody>
      </p:sp>
      <p:sp>
        <p:nvSpPr>
          <p:cNvPr id="21" name="Shape 19"/>
          <p:cNvSpPr/>
          <p:nvPr/>
        </p:nvSpPr>
        <p:spPr>
          <a:xfrm>
            <a:off x="3246120" y="3337560"/>
            <a:ext cx="2651760" cy="1005840"/>
          </a:xfrm>
          <a:prstGeom prst="roundRect">
            <a:avLst>
              <a:gd name="adj" fmla="val 9091"/>
            </a:avLst>
          </a:prstGeom>
          <a:solidFill>
            <a:srgbClr val="1B2A3B"/>
          </a:solidFill>
          <a:ln/>
          <a:effectLst>
            <a:outerShdw blurRad="101600" dist="38100" dir="2700000" algn="bl" rotWithShape="0">
              <a:srgbClr val="000000">
                <a:alpha val="18000"/>
              </a:srgbClr>
            </a:outerShdw>
          </a:effectLst>
        </p:spPr>
      </p:sp>
      <p:sp>
        <p:nvSpPr>
          <p:cNvPr id="22" name="Text 20"/>
          <p:cNvSpPr/>
          <p:nvPr/>
        </p:nvSpPr>
        <p:spPr>
          <a:xfrm>
            <a:off x="3246120" y="3447288"/>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3" name="Text 21"/>
          <p:cNvSpPr/>
          <p:nvPr/>
        </p:nvSpPr>
        <p:spPr>
          <a:xfrm>
            <a:off x="3794760" y="3429000"/>
            <a:ext cx="2011680" cy="274320"/>
          </a:xfrm>
          <a:prstGeom prst="rect">
            <a:avLst/>
          </a:prstGeom>
          <a:noFill/>
          <a:ln/>
        </p:spPr>
        <p:txBody>
          <a:bodyPr wrap="square" rtlCol="0" anchor="ctr"/>
          <a:lstStyle/>
          <a:p>
            <a:pPr marL="0" indent="0">
              <a:buNone/>
            </a:pPr>
            <a:r>
              <a:rPr lang="en-US" sz="1100" b="1" dirty="0">
                <a:solidFill>
                  <a:srgbClr val="00B4A6"/>
                </a:solidFill>
                <a:latin typeface="Calibri" pitchFamily="34" charset="0"/>
                <a:ea typeface="Calibri" pitchFamily="34" charset="-122"/>
                <a:cs typeface="Calibri" pitchFamily="34" charset="-120"/>
              </a:rPr>
              <a:t>GitHub README</a:t>
            </a:r>
            <a:endParaRPr lang="en-US" sz="1100" dirty="0"/>
          </a:p>
        </p:txBody>
      </p:sp>
      <p:sp>
        <p:nvSpPr>
          <p:cNvPr id="24" name="Text 22"/>
          <p:cNvSpPr/>
          <p:nvPr/>
        </p:nvSpPr>
        <p:spPr>
          <a:xfrm>
            <a:off x="3794760" y="3703320"/>
            <a:ext cx="2011680" cy="3200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Findings + how to run</a:t>
            </a:r>
            <a:endParaRPr lang="en-US" sz="1000" dirty="0"/>
          </a:p>
        </p:txBody>
      </p:sp>
      <p:sp>
        <p:nvSpPr>
          <p:cNvPr id="25" name="Shape 23"/>
          <p:cNvSpPr/>
          <p:nvPr/>
        </p:nvSpPr>
        <p:spPr>
          <a:xfrm>
            <a:off x="6126480" y="3337560"/>
            <a:ext cx="2651760" cy="1005840"/>
          </a:xfrm>
          <a:prstGeom prst="roundRect">
            <a:avLst>
              <a:gd name="adj" fmla="val 9091"/>
            </a:avLst>
          </a:prstGeom>
          <a:solidFill>
            <a:srgbClr val="1B2A3B"/>
          </a:solidFill>
          <a:ln/>
          <a:effectLst>
            <a:outerShdw blurRad="101600" dist="38100" dir="2700000" algn="bl" rotWithShape="0">
              <a:srgbClr val="000000">
                <a:alpha val="18000"/>
              </a:srgbClr>
            </a:outerShdw>
          </a:effectLst>
        </p:spPr>
      </p:sp>
      <p:sp>
        <p:nvSpPr>
          <p:cNvPr id="26" name="Text 24"/>
          <p:cNvSpPr/>
          <p:nvPr/>
        </p:nvSpPr>
        <p:spPr>
          <a:xfrm>
            <a:off x="6126480" y="3447288"/>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7" name="Text 25"/>
          <p:cNvSpPr/>
          <p:nvPr/>
        </p:nvSpPr>
        <p:spPr>
          <a:xfrm>
            <a:off x="6675120" y="3429000"/>
            <a:ext cx="2011680" cy="274320"/>
          </a:xfrm>
          <a:prstGeom prst="rect">
            <a:avLst/>
          </a:prstGeom>
          <a:noFill/>
          <a:ln/>
        </p:spPr>
        <p:txBody>
          <a:bodyPr wrap="square" rtlCol="0" anchor="ctr"/>
          <a:lstStyle/>
          <a:p>
            <a:pPr marL="0" indent="0">
              <a:buNone/>
            </a:pPr>
            <a:r>
              <a:rPr lang="en-US" sz="1100" b="1" dirty="0">
                <a:solidFill>
                  <a:srgbClr val="00B4A6"/>
                </a:solidFill>
                <a:latin typeface="Calibri" pitchFamily="34" charset="0"/>
                <a:ea typeface="Calibri" pitchFamily="34" charset="-122"/>
                <a:cs typeface="Calibri" pitchFamily="34" charset="-120"/>
              </a:rPr>
              <a:t>Business Insights</a:t>
            </a:r>
            <a:endParaRPr lang="en-US" sz="1100" dirty="0"/>
          </a:p>
        </p:txBody>
      </p:sp>
      <p:sp>
        <p:nvSpPr>
          <p:cNvPr id="28" name="Text 26"/>
          <p:cNvSpPr/>
          <p:nvPr/>
        </p:nvSpPr>
        <p:spPr>
          <a:xfrm>
            <a:off x="6675120" y="3703320"/>
            <a:ext cx="2011680" cy="3200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6 actionable findings</a:t>
            </a:r>
            <a:endParaRPr lang="en-US" sz="1000" dirty="0"/>
          </a:p>
        </p:txBody>
      </p:sp>
      <p:sp>
        <p:nvSpPr>
          <p:cNvPr id="30" name="Text 28"/>
          <p:cNvSpPr/>
          <p:nvPr/>
        </p:nvSpPr>
        <p:spPr>
          <a:xfrm>
            <a:off x="457200" y="4636008"/>
            <a:ext cx="8229600" cy="34747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Anurag Chawla  ·  anuragchawla7777@gmail.com  ·  github.com/anuragchawla27  ·  linkedin.com/in/anurag-chawla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1168</Words>
  <Application>Microsoft Office PowerPoint</Application>
  <PresentationFormat>On-screen Show (16:9)</PresentationFormat>
  <Paragraphs>213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Healthcare Patient Readmission Analysis</dc:title>
  <dc:subject>PptxGenJS Presentation</dc:subject>
  <dc:creator>Anurag Chawla</dc:creator>
  <cp:lastModifiedBy>anuragchawla36@gmail.com</cp:lastModifiedBy>
  <cp:revision>2</cp:revision>
  <dcterms:created xsi:type="dcterms:W3CDTF">2026-06-18T08:15:42Z</dcterms:created>
  <dcterms:modified xsi:type="dcterms:W3CDTF">2026-06-18T08:30:26Z</dcterms:modified>
</cp:coreProperties>
</file>